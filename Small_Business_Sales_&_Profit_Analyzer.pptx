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1" r:id="rId1"/>
  </p:sldMasterIdLst>
  <p:notesMasterIdLst>
    <p:notesMasterId r:id="rId22"/>
  </p:notesMasterIdLst>
  <p:sldIdLst>
    <p:sldId id="268" r:id="rId2"/>
    <p:sldId id="269" r:id="rId3"/>
    <p:sldId id="257" r:id="rId4"/>
    <p:sldId id="258" r:id="rId5"/>
    <p:sldId id="256" r:id="rId6"/>
    <p:sldId id="259" r:id="rId7"/>
    <p:sldId id="260" r:id="rId8"/>
    <p:sldId id="274" r:id="rId9"/>
    <p:sldId id="261" r:id="rId10"/>
    <p:sldId id="275" r:id="rId11"/>
    <p:sldId id="262" r:id="rId12"/>
    <p:sldId id="273" r:id="rId13"/>
    <p:sldId id="263" r:id="rId14"/>
    <p:sldId id="272" r:id="rId15"/>
    <p:sldId id="264" r:id="rId16"/>
    <p:sldId id="265" r:id="rId17"/>
    <p:sldId id="266" r:id="rId18"/>
    <p:sldId id="267" r:id="rId19"/>
    <p:sldId id="270" r:id="rId20"/>
    <p:sldId id="271" r:id="rId21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7082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2700" y="0"/>
            <a:ext cx="9173370" cy="5142161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19299" y="1403349"/>
            <a:ext cx="5111752" cy="1136650"/>
          </a:xfrm>
        </p:spPr>
        <p:txBody>
          <a:bodyPr anchor="b">
            <a:noAutofit/>
          </a:bodyPr>
          <a:lstStyle>
            <a:lvl1pPr algn="ctr">
              <a:defRPr sz="405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19299" y="2743198"/>
            <a:ext cx="5111752" cy="990602"/>
          </a:xfrm>
        </p:spPr>
        <p:txBody>
          <a:bodyPr anchor="t">
            <a:normAutofit/>
          </a:bodyPr>
          <a:lstStyle>
            <a:lvl1pPr marL="0" indent="0" algn="ctr">
              <a:buNone/>
              <a:defRPr sz="1575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87425" y="3778247"/>
            <a:ext cx="673100" cy="209550"/>
          </a:xfrm>
        </p:spPr>
        <p:txBody>
          <a:bodyPr/>
          <a:lstStyle/>
          <a:p>
            <a:fld id="{5923F103-BC34-4FE4-A40E-EDDEECFDA5D0}" type="datetimeFigureOut">
              <a:rPr lang="en-US" smtClean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19298" y="3778247"/>
            <a:ext cx="3910976" cy="209550"/>
          </a:xfrm>
        </p:spPr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17676" y="3778247"/>
            <a:ext cx="413375" cy="20955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299" y="2641598"/>
            <a:ext cx="511175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146717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047127" y="181610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916462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302" y="1314454"/>
            <a:ext cx="6119016" cy="1366886"/>
          </a:xfrm>
        </p:spPr>
        <p:txBody>
          <a:bodyPr anchor="b">
            <a:normAutofit/>
          </a:bodyPr>
          <a:lstStyle>
            <a:lvl1pPr algn="ctr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1300" y="2884539"/>
            <a:ext cx="6119018" cy="71591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509542" y="2782939"/>
            <a:ext cx="612253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527845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047127" y="181610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73836" y="1920240"/>
            <a:ext cx="3538728" cy="248259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6008" y="1920240"/>
            <a:ext cx="3538728" cy="248259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4694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0" y="1993900"/>
            <a:ext cx="3538728" cy="432197"/>
          </a:xfrm>
        </p:spPr>
        <p:txBody>
          <a:bodyPr anchor="b">
            <a:noAutofit/>
          </a:bodyPr>
          <a:lstStyle>
            <a:lvl1pPr marL="0" indent="0">
              <a:spcBef>
                <a:spcPts val="504"/>
              </a:spcBef>
              <a:spcAft>
                <a:spcPts val="450"/>
              </a:spcAft>
              <a:buNone/>
              <a:defRPr sz="21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71550" y="2432447"/>
            <a:ext cx="3538728" cy="1974454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35503" y="1993900"/>
            <a:ext cx="3538728" cy="432197"/>
          </a:xfrm>
        </p:spPr>
        <p:txBody>
          <a:bodyPr anchor="b">
            <a:noAutofit/>
          </a:bodyPr>
          <a:lstStyle>
            <a:lvl1pPr marL="0" indent="0">
              <a:spcBef>
                <a:spcPts val="504"/>
              </a:spcBef>
              <a:spcAft>
                <a:spcPts val="450"/>
              </a:spcAft>
              <a:buNone/>
              <a:defRPr sz="21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35503" y="2432447"/>
            <a:ext cx="3538728" cy="1974454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047127" y="181610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153743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047127" y="181610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738135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687046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0359" y="1041401"/>
            <a:ext cx="2788841" cy="1028700"/>
          </a:xfrm>
        </p:spPr>
        <p:txBody>
          <a:bodyPr anchor="b">
            <a:normAutofit/>
          </a:bodyPr>
          <a:lstStyle>
            <a:lvl1pPr algn="ctr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1" y="736599"/>
            <a:ext cx="4102100" cy="3670301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70359" y="2273299"/>
            <a:ext cx="2788841" cy="1828803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047127" y="2184400"/>
            <a:ext cx="26358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738962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49" y="1412874"/>
            <a:ext cx="4681362" cy="1028700"/>
          </a:xfrm>
        </p:spPr>
        <p:txBody>
          <a:bodyPr anchor="b">
            <a:normAutofit/>
          </a:bodyPr>
          <a:lstStyle>
            <a:lvl1pPr algn="ctr">
              <a:defRPr sz="21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71124" y="781050"/>
            <a:ext cx="2297510" cy="35814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71549" y="2441574"/>
            <a:ext cx="4681362" cy="1371600"/>
          </a:xfrm>
        </p:spPr>
        <p:txBody>
          <a:bodyPr anchor="t">
            <a:normAutofit/>
          </a:bodyPr>
          <a:lstStyle>
            <a:lvl1pPr marL="0" indent="0" algn="ctr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960181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3611561"/>
            <a:ext cx="7207250" cy="425054"/>
          </a:xfrm>
        </p:spPr>
        <p:txBody>
          <a:bodyPr anchor="b">
            <a:normAutofit/>
          </a:bodyPr>
          <a:lstStyle>
            <a:lvl1pPr algn="ctr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1070" y="781050"/>
            <a:ext cx="7579479" cy="2501902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71551" y="4036615"/>
            <a:ext cx="7207250" cy="370284"/>
          </a:xfrm>
        </p:spPr>
        <p:txBody>
          <a:bodyPr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429312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7901" y="736599"/>
            <a:ext cx="7194549" cy="2216151"/>
          </a:xfrm>
        </p:spPr>
        <p:txBody>
          <a:bodyPr anchor="ctr">
            <a:normAutofit/>
          </a:bodyPr>
          <a:lstStyle>
            <a:lvl1pPr algn="ctr">
              <a:defRPr sz="2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7901" y="3257550"/>
            <a:ext cx="7194549" cy="11493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047127" y="3105149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601174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60" y="736599"/>
            <a:ext cx="6972299" cy="1778001"/>
          </a:xfrm>
        </p:spPr>
        <p:txBody>
          <a:bodyPr anchor="ctr">
            <a:normAutofit/>
          </a:bodyPr>
          <a:lstStyle>
            <a:lvl1pPr algn="ctr">
              <a:defRPr sz="24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256109" y="2514600"/>
            <a:ext cx="6629402" cy="43815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500"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257550"/>
            <a:ext cx="7207250" cy="11493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646510" y="659971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0200" y="2120903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047127" y="3105149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6807555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2" y="2481436"/>
            <a:ext cx="7207251" cy="1101600"/>
          </a:xfrm>
        </p:spPr>
        <p:txBody>
          <a:bodyPr anchor="b">
            <a:normAutofit/>
          </a:bodyPr>
          <a:lstStyle>
            <a:lvl1pPr algn="l">
              <a:defRPr sz="2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583036"/>
            <a:ext cx="7207251" cy="645300"/>
          </a:xfrm>
        </p:spPr>
        <p:txBody>
          <a:bodyPr anchor="t">
            <a:normAutofit/>
          </a:bodyPr>
          <a:lstStyle>
            <a:lvl1pPr marL="0" indent="0" algn="l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809213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60" y="736599"/>
            <a:ext cx="6972299" cy="1682751"/>
          </a:xfrm>
        </p:spPr>
        <p:txBody>
          <a:bodyPr anchor="ctr">
            <a:normAutofit/>
          </a:bodyPr>
          <a:lstStyle>
            <a:lvl1pPr algn="ctr">
              <a:defRPr sz="24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971551" y="2729484"/>
            <a:ext cx="7207251" cy="66522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397250"/>
            <a:ext cx="7207251" cy="100965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646510" y="659971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0200" y="1949446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047127" y="257175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97138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736599"/>
            <a:ext cx="7207250" cy="1682751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971551" y="2722626"/>
            <a:ext cx="7207251" cy="63093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1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0" y="3352800"/>
            <a:ext cx="7207253" cy="105410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047127" y="257175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546704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6D93-FCAC-47E0-A2EE-787E62CA814C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047127" y="181610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2737106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9518" y="736599"/>
            <a:ext cx="1418171" cy="36703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71549" y="736599"/>
            <a:ext cx="5574769" cy="36703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879A6-0FD0-4734-A311-86BFCA472E6E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6647918" y="742950"/>
            <a:ext cx="0" cy="36576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5580678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2968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1802" y="0"/>
            <a:ext cx="9172472" cy="5142161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71552" y="736600"/>
            <a:ext cx="7200897" cy="9779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1917699"/>
            <a:ext cx="7200897" cy="248920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08126" y="4476750"/>
            <a:ext cx="1200150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BE451C3-0FF4-47C4-B829-773ADF60F88C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71551" y="4476750"/>
            <a:ext cx="5479425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65426" y="4476750"/>
            <a:ext cx="407023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8077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  <p:sldLayoutId id="2147483793" r:id="rId2"/>
    <p:sldLayoutId id="2147483794" r:id="rId3"/>
    <p:sldLayoutId id="2147483795" r:id="rId4"/>
    <p:sldLayoutId id="2147483796" r:id="rId5"/>
    <p:sldLayoutId id="2147483797" r:id="rId6"/>
    <p:sldLayoutId id="2147483798" r:id="rId7"/>
    <p:sldLayoutId id="2147483799" r:id="rId8"/>
    <p:sldLayoutId id="2147483800" r:id="rId9"/>
    <p:sldLayoutId id="2147483801" r:id="rId10"/>
    <p:sldLayoutId id="2147483802" r:id="rId11"/>
    <p:sldLayoutId id="2147483803" r:id="rId12"/>
    <p:sldLayoutId id="2147483804" r:id="rId13"/>
    <p:sldLayoutId id="2147483805" r:id="rId14"/>
    <p:sldLayoutId id="2147483806" r:id="rId15"/>
    <p:sldLayoutId id="2147483807" r:id="rId16"/>
    <p:sldLayoutId id="2147483808" r:id="rId17"/>
    <p:sldLayoutId id="2147483809" r:id="rId18"/>
  </p:sldLayoutIdLst>
  <p:hf sldNum="0" hdr="0" ftr="0" dt="0"/>
  <p:txStyles>
    <p:titleStyle>
      <a:lvl1pPr algn="ctr" defTabSz="342900" rtl="0" eaLnBrk="1" latinLnBrk="0" hangingPunct="1">
        <a:spcBef>
          <a:spcPct val="0"/>
        </a:spcBef>
        <a:buNone/>
        <a:defRPr sz="33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143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5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9001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3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1572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2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15001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0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0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0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0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0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microsoft.com/office/2007/relationships/hdphoto" Target="../media/hdphoto1.wdp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7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microsoft.com/office/2007/relationships/hdphoto" Target="../media/hdphoto2.wdp"/><Relationship Id="rId9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7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microsoft.com/office/2007/relationships/hdphoto" Target="../media/hdphoto3.wdp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36.png"/><Relationship Id="rId4" Type="http://schemas.microsoft.com/office/2007/relationships/hdphoto" Target="../media/hdphoto4.wdp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2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10" Type="http://schemas.openxmlformats.org/officeDocument/2006/relationships/image" Target="../media/image48.png"/><Relationship Id="rId4" Type="http://schemas.microsoft.com/office/2007/relationships/hdphoto" Target="../media/hdphoto5.wdp"/><Relationship Id="rId9" Type="http://schemas.openxmlformats.org/officeDocument/2006/relationships/image" Target="../media/image4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12" Type="http://schemas.openxmlformats.org/officeDocument/2006/relationships/image" Target="../media/image5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52.png"/><Relationship Id="rId11" Type="http://schemas.openxmlformats.org/officeDocument/2006/relationships/image" Target="../media/image57.png"/><Relationship Id="rId5" Type="http://schemas.openxmlformats.org/officeDocument/2006/relationships/image" Target="../media/image51.png"/><Relationship Id="rId10" Type="http://schemas.openxmlformats.org/officeDocument/2006/relationships/image" Target="../media/image56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59.png"/><Relationship Id="rId7" Type="http://schemas.openxmlformats.org/officeDocument/2006/relationships/image" Target="../media/image62.png"/><Relationship Id="rId12" Type="http://schemas.openxmlformats.org/officeDocument/2006/relationships/image" Target="../media/image6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61.png"/><Relationship Id="rId11" Type="http://schemas.openxmlformats.org/officeDocument/2006/relationships/image" Target="../media/image66.png"/><Relationship Id="rId5" Type="http://schemas.openxmlformats.org/officeDocument/2006/relationships/image" Target="../media/image60.png"/><Relationship Id="rId10" Type="http://schemas.openxmlformats.org/officeDocument/2006/relationships/image" Target="../media/image65.png"/><Relationship Id="rId4" Type="http://schemas.microsoft.com/office/2007/relationships/hdphoto" Target="../media/hdphoto6.wdp"/><Relationship Id="rId9" Type="http://schemas.openxmlformats.org/officeDocument/2006/relationships/image" Target="../media/image6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13" Type="http://schemas.openxmlformats.org/officeDocument/2006/relationships/image" Target="../media/image76.png"/><Relationship Id="rId3" Type="http://schemas.openxmlformats.org/officeDocument/2006/relationships/image" Target="../media/image7.png"/><Relationship Id="rId7" Type="http://schemas.openxmlformats.org/officeDocument/2006/relationships/image" Target="../media/image70.png"/><Relationship Id="rId12" Type="http://schemas.openxmlformats.org/officeDocument/2006/relationships/image" Target="../media/image7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69.png"/><Relationship Id="rId11" Type="http://schemas.openxmlformats.org/officeDocument/2006/relationships/image" Target="../media/image74.png"/><Relationship Id="rId5" Type="http://schemas.openxmlformats.org/officeDocument/2006/relationships/image" Target="../media/image68.png"/><Relationship Id="rId10" Type="http://schemas.openxmlformats.org/officeDocument/2006/relationships/image" Target="../media/image73.png"/><Relationship Id="rId4" Type="http://schemas.microsoft.com/office/2007/relationships/hdphoto" Target="../media/hdphoto3.wdp"/><Relationship Id="rId9" Type="http://schemas.openxmlformats.org/officeDocument/2006/relationships/image" Target="../media/image72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28571C6-A384-B74C-0A61-78E428FA374F}"/>
              </a:ext>
            </a:extLst>
          </p:cNvPr>
          <p:cNvSpPr txBox="1"/>
          <p:nvPr/>
        </p:nvSpPr>
        <p:spPr>
          <a:xfrm>
            <a:off x="794824" y="1578701"/>
            <a:ext cx="7927145" cy="1066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erriweather" panose="00000500000000000000" pitchFamily="2" charset="0"/>
                <a:ea typeface="Merriweather" pitchFamily="34" charset="-122"/>
                <a:cs typeface="Merriweather" pitchFamily="34" charset="-120"/>
              </a:rPr>
              <a:t>Small Business Sales &amp; Profit Analyzer</a:t>
            </a:r>
            <a:endParaRPr lang="en-US" sz="3600" dirty="0">
              <a:solidFill>
                <a:schemeClr val="tx1">
                  <a:lumMod val="95000"/>
                  <a:lumOff val="5000"/>
                </a:schemeClr>
              </a:solidFill>
              <a:latin typeface="Merriweather" panose="000005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9135DD-424B-5BA9-7C39-EA6A46B00FDC}"/>
              </a:ext>
            </a:extLst>
          </p:cNvPr>
          <p:cNvSpPr txBox="1"/>
          <p:nvPr/>
        </p:nvSpPr>
        <p:spPr>
          <a:xfrm>
            <a:off x="794824" y="1033975"/>
            <a:ext cx="1688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latin typeface="Merriweather" panose="00000500000000000000" pitchFamily="2" charset="0"/>
              </a:rPr>
              <a:t>Project Title:</a:t>
            </a:r>
            <a:endParaRPr lang="en-IN" b="1" u="sng" dirty="0">
              <a:latin typeface="Merriweather" panose="000005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7C2F69-4645-8A8D-E122-2677291C2E1E}"/>
              </a:ext>
            </a:extLst>
          </p:cNvPr>
          <p:cNvSpPr txBox="1"/>
          <p:nvPr/>
        </p:nvSpPr>
        <p:spPr>
          <a:xfrm>
            <a:off x="807263" y="3010487"/>
            <a:ext cx="22092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Merriweather" panose="00000500000000000000" pitchFamily="2" charset="0"/>
              </a:rPr>
              <a:t>Presented By –</a:t>
            </a:r>
          </a:p>
          <a:p>
            <a:r>
              <a:rPr lang="en-US" b="1" dirty="0">
                <a:latin typeface="Merriweather" panose="00000500000000000000" pitchFamily="2" charset="0"/>
              </a:rPr>
              <a:t>MOUPRIYO JANA</a:t>
            </a:r>
            <a:endParaRPr lang="en-IN" b="1" dirty="0">
              <a:latin typeface="Merriweather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35047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8F5725B-8132-5312-014B-2C88EAB3EDA8}"/>
              </a:ext>
            </a:extLst>
          </p:cNvPr>
          <p:cNvSpPr txBox="1"/>
          <p:nvPr/>
        </p:nvSpPr>
        <p:spPr>
          <a:xfrm>
            <a:off x="568798" y="523794"/>
            <a:ext cx="54601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 dirty="0">
                <a:latin typeface="Merriweather" panose="00000500000000000000" pitchFamily="2" charset="0"/>
              </a:rPr>
              <a:t>Introduction to Business Analyzer</a:t>
            </a:r>
            <a:endParaRPr lang="en-IN" sz="2400" b="1" u="sng" dirty="0">
              <a:latin typeface="Merriweather" panose="000005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C64B40-88C3-290D-4D09-242FE43239BD}"/>
              </a:ext>
            </a:extLst>
          </p:cNvPr>
          <p:cNvSpPr txBox="1"/>
          <p:nvPr/>
        </p:nvSpPr>
        <p:spPr>
          <a:xfrm>
            <a:off x="668216" y="1024372"/>
            <a:ext cx="788494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This presentation outlines the development of a comprehensive Small Business Sales &amp; Profit Analyzer, covering its architecture, key features across four implementation milestones, and how it leverages AI for financial forecasting and reporting.</a:t>
            </a:r>
            <a:endParaRPr lang="en-IN" sz="14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39577FC-ADF0-BDF9-0BBB-CBECB8452D33}"/>
              </a:ext>
            </a:extLst>
          </p:cNvPr>
          <p:cNvSpPr/>
          <p:nvPr/>
        </p:nvSpPr>
        <p:spPr>
          <a:xfrm>
            <a:off x="3425482" y="2032781"/>
            <a:ext cx="2504049" cy="248998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chemeClr val="accent3">
                    <a:lumMod val="50000"/>
                  </a:schemeClr>
                </a:solidFill>
              </a:rPr>
              <a:t>Why Business Analyzer?</a:t>
            </a:r>
            <a:br>
              <a:rPr lang="en-IN" dirty="0">
                <a:solidFill>
                  <a:schemeClr val="accent3">
                    <a:lumMod val="50000"/>
                  </a:schemeClr>
                </a:solidFill>
              </a:rPr>
            </a:br>
            <a:r>
              <a:rPr lang="en-US" sz="1400" dirty="0"/>
              <a:t>Small and micro-businesses lack affordable, easy-to-use tools for financial tracking, often relying on complex enterprise systems or manual methods that prevent informed decision-making.</a:t>
            </a:r>
            <a:endParaRPr lang="en-IN" sz="1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629FCCC-DF1E-FE5B-F18D-44B7A1E7FF8C}"/>
              </a:ext>
            </a:extLst>
          </p:cNvPr>
          <p:cNvSpPr/>
          <p:nvPr/>
        </p:nvSpPr>
        <p:spPr>
          <a:xfrm>
            <a:off x="668216" y="2032781"/>
            <a:ext cx="2630657" cy="248998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chemeClr val="accent3">
                    <a:lumMod val="50000"/>
                  </a:schemeClr>
                </a:solidFill>
              </a:rPr>
              <a:t>Basics of Business Analyzer</a:t>
            </a:r>
            <a:br>
              <a:rPr lang="en-IN" dirty="0"/>
            </a:br>
            <a:r>
              <a:rPr lang="en-US" sz="1400" dirty="0"/>
              <a:t>It is an open-source, user-friendly web application that enables small business owners to log daily sales and expenses, automatically calculate profits, and generate insightful reports with interactive visualizations.</a:t>
            </a:r>
            <a:endParaRPr lang="en-IN" sz="1400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AE124D5-99D7-FAAA-0894-412419F0DBE0}"/>
              </a:ext>
            </a:extLst>
          </p:cNvPr>
          <p:cNvSpPr/>
          <p:nvPr/>
        </p:nvSpPr>
        <p:spPr>
          <a:xfrm>
            <a:off x="6063175" y="2032780"/>
            <a:ext cx="2419643" cy="248998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accent3">
                    <a:lumMod val="50000"/>
                  </a:schemeClr>
                </a:solidFill>
              </a:rPr>
              <a:t>Applications</a:t>
            </a:r>
            <a:br>
              <a:rPr lang="en-US" dirty="0"/>
            </a:br>
            <a:r>
              <a:rPr lang="en-US" sz="1400" dirty="0"/>
              <a:t>The Business Analyzer serves retail shops and online sellers by tracking daily sales, managing inventory, and consolidating multi-channel data for real-time profit monitoring.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237080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4406" y="-271462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6601" y="609005"/>
            <a:ext cx="7111499" cy="3686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226" b="1" u="sng" dirty="0">
                <a:solidFill>
                  <a:srgbClr val="2D3748"/>
                </a:solidFill>
                <a:latin typeface="+mj-lt"/>
                <a:ea typeface="Merriweather" pitchFamily="34" charset="-122"/>
                <a:cs typeface="Merriweather" pitchFamily="34" charset="-120"/>
              </a:rPr>
              <a:t>Why Small Businesses Need Better Financial Management</a:t>
            </a:r>
            <a:endParaRPr lang="en-US" sz="2226" u="sng" dirty="0">
              <a:latin typeface="+mj-lt"/>
            </a:endParaRPr>
          </a:p>
        </p:txBody>
      </p:sp>
      <p:sp>
        <p:nvSpPr>
          <p:cNvPr id="4" name="Text 1"/>
          <p:cNvSpPr/>
          <p:nvPr/>
        </p:nvSpPr>
        <p:spPr>
          <a:xfrm>
            <a:off x="613264" y="1099506"/>
            <a:ext cx="2811667" cy="143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100" dirty="0">
                <a:solidFill>
                  <a:schemeClr val="accent3">
                    <a:lumMod val="50000"/>
                  </a:scheme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Understanding the challenge and the solution</a:t>
            </a:r>
            <a:endParaRPr lang="en-US" sz="1100" dirty="0">
              <a:solidFill>
                <a:schemeClr val="accent3">
                  <a:lumMod val="50000"/>
                </a:schemeClr>
              </a:solidFill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713" y="1464863"/>
            <a:ext cx="285750" cy="2857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14375" y="1810941"/>
            <a:ext cx="902491" cy="182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u="sng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Problem</a:t>
            </a:r>
            <a:endParaRPr lang="en-US" sz="1090" u="sng" dirty="0"/>
          </a:p>
        </p:txBody>
      </p:sp>
      <p:sp>
        <p:nvSpPr>
          <p:cNvPr id="8" name="Shape 4"/>
          <p:cNvSpPr/>
          <p:nvPr/>
        </p:nvSpPr>
        <p:spPr>
          <a:xfrm flipH="1">
            <a:off x="645795" y="2107406"/>
            <a:ext cx="45719" cy="160845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/>
        </p:spPr>
      </p:sp>
      <p:sp>
        <p:nvSpPr>
          <p:cNvPr id="9" name="Text 5"/>
          <p:cNvSpPr/>
          <p:nvPr/>
        </p:nvSpPr>
        <p:spPr>
          <a:xfrm>
            <a:off x="748582" y="2107406"/>
            <a:ext cx="1800225" cy="16084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latin typeface="Lato" pitchFamily="34" charset="0"/>
                <a:ea typeface="Lato" pitchFamily="34" charset="-122"/>
                <a:cs typeface="Lato" pitchFamily="34" charset="-120"/>
              </a:rPr>
              <a:t>Small and micro-business owners struggle to track sales, expenses, and profit trends due to lack of affordable, easy-to-use tools. Enterprise ERP systems are too complex and costly for small shops or home-based businesses.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8347" y="1439549"/>
            <a:ext cx="214313" cy="2857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447650" y="1795014"/>
            <a:ext cx="1295226" cy="182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u="sng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Why This Solution</a:t>
            </a:r>
            <a:endParaRPr lang="en-US" sz="1090" u="sng" dirty="0"/>
          </a:p>
        </p:txBody>
      </p:sp>
      <p:sp>
        <p:nvSpPr>
          <p:cNvPr id="13" name="Shape 8"/>
          <p:cNvSpPr/>
          <p:nvPr/>
        </p:nvSpPr>
        <p:spPr>
          <a:xfrm>
            <a:off x="3321955" y="2098477"/>
            <a:ext cx="45719" cy="1646634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14" name="Text 9"/>
          <p:cNvSpPr/>
          <p:nvPr/>
        </p:nvSpPr>
        <p:spPr>
          <a:xfrm>
            <a:off x="3508546" y="2098477"/>
            <a:ext cx="1800225" cy="16084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latin typeface="Lato" pitchFamily="34" charset="0"/>
                <a:ea typeface="Lato" pitchFamily="34" charset="-122"/>
                <a:cs typeface="Lato" pitchFamily="34" charset="-120"/>
              </a:rPr>
              <a:t>This project develops an open-source, user-friendly tool that allows business owners to log daily sales and expenses, automatically calculate profits, and generate weekly/monthly reports with clear visualizations.</a:t>
            </a:r>
            <a:endParaRPr lang="en-US" sz="11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8305" y="1416249"/>
            <a:ext cx="305395" cy="27146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438305" y="1741019"/>
            <a:ext cx="1740861" cy="182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u="sng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Real-World Applications</a:t>
            </a:r>
            <a:endParaRPr lang="en-US" sz="1090" u="sng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41864" y="2050038"/>
            <a:ext cx="192881" cy="17145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615113" y="2074001"/>
            <a:ext cx="1828800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Retail Shops</a:t>
            </a:r>
            <a:r>
              <a:rPr lang="en-US" sz="110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- Track daily sales and inventory</a:t>
            </a:r>
            <a:endParaRPr lang="en-US" sz="11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82047" y="2562145"/>
            <a:ext cx="176808" cy="17680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631186" y="2551260"/>
            <a:ext cx="1828800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Online Sellers</a:t>
            </a:r>
            <a:r>
              <a:rPr lang="en-US" sz="110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- Manage multi-channel sales</a:t>
            </a:r>
            <a:endParaRPr lang="en-US" sz="11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19178" y="3062302"/>
            <a:ext cx="176808" cy="176808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6669405" y="3058833"/>
            <a:ext cx="1828800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Service Businesses</a:t>
            </a:r>
            <a:r>
              <a:rPr lang="en-US" sz="110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- Track billable hours and expenses</a:t>
            </a:r>
            <a:endParaRPr lang="en-US" sz="110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9178" y="3579348"/>
            <a:ext cx="195075" cy="173401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6693804" y="3609824"/>
            <a:ext cx="1828800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Home-based Entrepreneurs</a:t>
            </a:r>
            <a:r>
              <a:rPr lang="en-US" sz="110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- Affordable financial tracking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8594" y="672503"/>
            <a:ext cx="2192331" cy="3686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226" b="1" u="sng" dirty="0">
                <a:solidFill>
                  <a:srgbClr val="2D3748"/>
                </a:solidFill>
                <a:latin typeface="+mj-lt"/>
                <a:ea typeface="Merriweather" pitchFamily="34" charset="-122"/>
                <a:cs typeface="Merriweather" pitchFamily="34" charset="-120"/>
              </a:rPr>
              <a:t>Project Objectives</a:t>
            </a:r>
            <a:endParaRPr lang="en-US" sz="2226" u="sng" dirty="0">
              <a:latin typeface="+mj-lt"/>
            </a:endParaRPr>
          </a:p>
        </p:txBody>
      </p:sp>
      <p:sp>
        <p:nvSpPr>
          <p:cNvPr id="4" name="Text 1"/>
          <p:cNvSpPr/>
          <p:nvPr/>
        </p:nvSpPr>
        <p:spPr>
          <a:xfrm>
            <a:off x="588574" y="1261137"/>
            <a:ext cx="3505124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600" dirty="0"/>
              <a:t>The main objectives of this project are:</a:t>
            </a:r>
          </a:p>
        </p:txBody>
      </p:sp>
      <p:sp>
        <p:nvSpPr>
          <p:cNvPr id="5" name="Text 2"/>
          <p:cNvSpPr/>
          <p:nvPr/>
        </p:nvSpPr>
        <p:spPr>
          <a:xfrm>
            <a:off x="1621965" y="1945918"/>
            <a:ext cx="214313" cy="4929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4100"/>
              </a:lnSpc>
              <a:buNone/>
            </a:pPr>
            <a:r>
              <a:rPr lang="en-US" sz="3077" b="1" dirty="0">
                <a:solidFill>
                  <a:srgbClr val="E53E3E">
                    <a:alpha val="30000"/>
                  </a:srgbClr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</a:t>
            </a:r>
            <a:endParaRPr lang="en-US" sz="3077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3676" y="2446351"/>
            <a:ext cx="401836" cy="3571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7720" y="2861814"/>
            <a:ext cx="2213748" cy="1928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00" b="1" dirty="0">
                <a:solidFill>
                  <a:schemeClr val="accent3">
                    <a:lumMod val="50000"/>
                  </a:schemeClr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Enable Easy Financial Tracking</a:t>
            </a:r>
            <a:endParaRPr lang="en-US" sz="11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8" name="Text 4"/>
          <p:cNvSpPr/>
          <p:nvPr/>
        </p:nvSpPr>
        <p:spPr>
          <a:xfrm>
            <a:off x="698036" y="3200268"/>
            <a:ext cx="2276484" cy="728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Provide a simple, intuitive interface for users to log transactions, categorize expenses, and track inventory in real-time without technical expertise.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4464844" y="1901178"/>
            <a:ext cx="214313" cy="4929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4100"/>
              </a:lnSpc>
              <a:buNone/>
            </a:pPr>
            <a:r>
              <a:rPr lang="en-US" sz="3077" b="1" dirty="0">
                <a:solidFill>
                  <a:srgbClr val="E53E3E">
                    <a:alpha val="30000"/>
                  </a:srgbClr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2</a:t>
            </a:r>
            <a:endParaRPr lang="en-US" sz="3077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1082" y="2414182"/>
            <a:ext cx="401836" cy="35718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534871" y="2857208"/>
            <a:ext cx="2029402" cy="1924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090" b="1" dirty="0">
                <a:solidFill>
                  <a:schemeClr val="accent3">
                    <a:lumMod val="50000"/>
                  </a:schemeClr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Generate Actionable Insights</a:t>
            </a:r>
            <a:endParaRPr lang="en-US" sz="109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2" name="Text 7"/>
          <p:cNvSpPr/>
          <p:nvPr/>
        </p:nvSpPr>
        <p:spPr>
          <a:xfrm>
            <a:off x="3411330" y="3191854"/>
            <a:ext cx="2276484" cy="8885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Automatically calculate profits, generate weekly/monthly reports, and provide AI-powered forecasts to help business owners make data-driven decisions.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7112803" y="1931896"/>
            <a:ext cx="214313" cy="4929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4100"/>
              </a:lnSpc>
              <a:buNone/>
            </a:pPr>
            <a:r>
              <a:rPr lang="en-US" sz="3077" b="1" dirty="0">
                <a:solidFill>
                  <a:srgbClr val="E53E3E">
                    <a:alpha val="30000"/>
                  </a:srgbClr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3</a:t>
            </a:r>
            <a:endParaRPr lang="en-US" sz="3077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4956" y="2438837"/>
            <a:ext cx="357188" cy="35718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188874" y="2867668"/>
            <a:ext cx="2175275" cy="1928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00" b="1" dirty="0">
                <a:solidFill>
                  <a:schemeClr val="accent3">
                    <a:lumMod val="50000"/>
                  </a:schemeClr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Ensure Accessibility &amp; Security</a:t>
            </a:r>
            <a:endParaRPr lang="en-US" sz="11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6" name="Text 10"/>
          <p:cNvSpPr/>
          <p:nvPr/>
        </p:nvSpPr>
        <p:spPr>
          <a:xfrm>
            <a:off x="6188874" y="3172951"/>
            <a:ext cx="2276484" cy="728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Offer an affordable, open-source solution with role-based access control and secure user authentication to protect sensitive business data.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3"/>
          <p:cNvSpPr/>
          <p:nvPr/>
        </p:nvSpPr>
        <p:spPr>
          <a:xfrm>
            <a:off x="1299586" y="1403547"/>
            <a:ext cx="2415742" cy="1479154"/>
          </a:xfrm>
          <a:prstGeom prst="rect">
            <a:avLst/>
          </a:prstGeom>
          <a:solidFill>
            <a:srgbClr val="FFFFFF">
              <a:alpha val="70000"/>
            </a:srgbClr>
          </a:solidFill>
          <a:ln w="9144">
            <a:solidFill>
              <a:srgbClr val="2D3748">
                <a:alpha val="10000"/>
              </a:srgbClr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3216" y="1534736"/>
            <a:ext cx="526494" cy="54230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839652" y="2227634"/>
            <a:ext cx="1415451" cy="1447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100" b="1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Real-time Analytics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1815144" y="2460216"/>
            <a:ext cx="1464469" cy="2821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Track sales trends and profit margins instantly</a:t>
            </a:r>
            <a:endParaRPr lang="en-US" sz="1000" b="1" dirty="0"/>
          </a:p>
        </p:txBody>
      </p:sp>
      <p:sp>
        <p:nvSpPr>
          <p:cNvPr id="10" name="Shape 6"/>
          <p:cNvSpPr/>
          <p:nvPr/>
        </p:nvSpPr>
        <p:spPr>
          <a:xfrm>
            <a:off x="5129213" y="1456006"/>
            <a:ext cx="2386733" cy="1426695"/>
          </a:xfrm>
          <a:prstGeom prst="rect">
            <a:avLst/>
          </a:prstGeom>
          <a:solidFill>
            <a:srgbClr val="FFFFFF">
              <a:alpha val="70000"/>
            </a:srgbClr>
          </a:solidFill>
          <a:ln w="9144">
            <a:solidFill>
              <a:srgbClr val="2D3748">
                <a:alpha val="10000"/>
              </a:srgbClr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0041" y="1596683"/>
            <a:ext cx="395928" cy="48036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719541" y="2192438"/>
            <a:ext cx="1178207" cy="1447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100" b="1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Smart Reporting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5393531" y="2373024"/>
            <a:ext cx="1830229" cy="2821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Generate weekly/monthly reports automatically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1311516" y="3034921"/>
            <a:ext cx="2415742" cy="1479154"/>
          </a:xfrm>
          <a:prstGeom prst="rect">
            <a:avLst/>
          </a:prstGeom>
          <a:solidFill>
            <a:srgbClr val="FFFFFF">
              <a:alpha val="70000"/>
            </a:srgbClr>
          </a:solidFill>
          <a:ln w="9144">
            <a:solidFill>
              <a:srgbClr val="2D374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9065" y="3121214"/>
            <a:ext cx="460645" cy="46064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2045637" y="3699705"/>
            <a:ext cx="1003480" cy="1447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100" b="1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AI Predictions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1628054" y="3996708"/>
            <a:ext cx="1838645" cy="1410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Forecast future sales and profits</a:t>
            </a:r>
            <a:endParaRPr lang="en-US" sz="1000" b="1" dirty="0"/>
          </a:p>
        </p:txBody>
      </p:sp>
      <p:sp>
        <p:nvSpPr>
          <p:cNvPr id="18" name="Shape 12"/>
          <p:cNvSpPr/>
          <p:nvPr/>
        </p:nvSpPr>
        <p:spPr>
          <a:xfrm>
            <a:off x="5168945" y="3022808"/>
            <a:ext cx="2386733" cy="1453473"/>
          </a:xfrm>
          <a:prstGeom prst="rect">
            <a:avLst/>
          </a:prstGeom>
          <a:solidFill>
            <a:srgbClr val="FFFFFF">
              <a:alpha val="70000"/>
            </a:srgbClr>
          </a:solidFill>
          <a:ln w="9144">
            <a:solidFill>
              <a:srgbClr val="2D3748">
                <a:alpha val="10000"/>
              </a:srgbClr>
            </a:solidFill>
            <a:prstDash val="solid"/>
          </a:ln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33481" y="3122936"/>
            <a:ext cx="440694" cy="39172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479255" y="3627313"/>
            <a:ext cx="1670329" cy="1447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100" b="1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Inventory Management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5582186" y="3855131"/>
            <a:ext cx="1464469" cy="282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50" b="1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Track inventory and calculate COGS</a:t>
            </a:r>
            <a:endParaRPr lang="en-US" sz="105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F7F786D-12AB-2207-6BED-E0EE1E05EC6B}"/>
              </a:ext>
            </a:extLst>
          </p:cNvPr>
          <p:cNvSpPr txBox="1"/>
          <p:nvPr/>
        </p:nvSpPr>
        <p:spPr>
          <a:xfrm>
            <a:off x="745698" y="589040"/>
            <a:ext cx="2522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PROJECT FEATURES</a:t>
            </a:r>
            <a:endParaRPr lang="en-IN" b="1" u="sng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BBDA440-880C-AF78-463D-0CE3D32B8DC9}"/>
              </a:ext>
            </a:extLst>
          </p:cNvPr>
          <p:cNvSpPr txBox="1"/>
          <p:nvPr/>
        </p:nvSpPr>
        <p:spPr>
          <a:xfrm>
            <a:off x="745698" y="941882"/>
            <a:ext cx="42751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The main features of this project are:</a:t>
            </a:r>
          </a:p>
          <a:p>
            <a:br>
              <a:rPr lang="en-US" dirty="0"/>
            </a:br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248" y="245142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6515" y="583463"/>
            <a:ext cx="5972212" cy="3893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800" b="1" u="sng" dirty="0">
                <a:solidFill>
                  <a:srgbClr val="2D3748"/>
                </a:solidFill>
                <a:latin typeface="+mj-lt"/>
                <a:ea typeface="Merriweather" pitchFamily="34" charset="-122"/>
                <a:cs typeface="Merriweather" pitchFamily="34" charset="-120"/>
              </a:rPr>
              <a:t>Overview of Technology Stack &amp; Tools</a:t>
            </a:r>
            <a:endParaRPr lang="en-US" sz="2800" u="sng" dirty="0">
              <a:latin typeface="+mj-lt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3386" y="1164431"/>
            <a:ext cx="289322" cy="2571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89431" y="1544882"/>
            <a:ext cx="657232" cy="1447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100" b="1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Frontend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1235524" y="1821281"/>
            <a:ext cx="572273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2D374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Streamlit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833551" y="2044584"/>
            <a:ext cx="1368965" cy="143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Python UI Framework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5428" y="1164431"/>
            <a:ext cx="257175" cy="25717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252651" y="1535906"/>
            <a:ext cx="602729" cy="1447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100" b="1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Backend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3326390" y="1760934"/>
            <a:ext cx="455253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2D374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Python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3553983" y="1938077"/>
            <a:ext cx="65" cy="15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3005789" y="2013554"/>
            <a:ext cx="1096454" cy="143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API Development</a:t>
            </a:r>
            <a:endParaRPr lang="en-US" sz="11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77470" y="1164431"/>
            <a:ext cx="225028" cy="25717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268583" y="1535906"/>
            <a:ext cx="642805" cy="1447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100" b="1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Database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5375970" y="1760934"/>
            <a:ext cx="428002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2D374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SQLite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5589952" y="1938077"/>
            <a:ext cx="65" cy="15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5214053" y="2023777"/>
            <a:ext cx="814325" cy="143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Data Storage</a:t>
            </a:r>
            <a:endParaRPr lang="en-US" sz="11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65219" y="1164431"/>
            <a:ext cx="321469" cy="25717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193944" y="1535906"/>
            <a:ext cx="864019" cy="1447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100" b="1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7395895" y="1732439"/>
            <a:ext cx="460062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2D374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Docker</a:t>
            </a: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7176297" y="1889628"/>
            <a:ext cx="899285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2D374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Cloud Hosting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7113780" y="2093788"/>
            <a:ext cx="1024319" cy="143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Containerization</a:t>
            </a:r>
            <a:endParaRPr lang="en-US" sz="110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21606" y="2723862"/>
            <a:ext cx="192881" cy="257175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48980" y="3095337"/>
            <a:ext cx="1138133" cy="1447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100" b="1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Data Processing</a:t>
            </a:r>
            <a:endParaRPr lang="en-US" sz="1100" dirty="0"/>
          </a:p>
        </p:txBody>
      </p:sp>
      <p:sp>
        <p:nvSpPr>
          <p:cNvPr id="26" name="Text 18"/>
          <p:cNvSpPr/>
          <p:nvPr/>
        </p:nvSpPr>
        <p:spPr>
          <a:xfrm>
            <a:off x="1291209" y="3286607"/>
            <a:ext cx="453650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2D374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Pandas</a:t>
            </a:r>
            <a:endParaRPr lang="en-US" sz="1100" dirty="0"/>
          </a:p>
        </p:txBody>
      </p:sp>
      <p:sp>
        <p:nvSpPr>
          <p:cNvPr id="27" name="Text 19"/>
          <p:cNvSpPr/>
          <p:nvPr/>
        </p:nvSpPr>
        <p:spPr>
          <a:xfrm>
            <a:off x="1284009" y="3452844"/>
            <a:ext cx="468077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2D374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NumPy</a:t>
            </a:r>
            <a:endParaRPr lang="en-US" sz="1100" dirty="0"/>
          </a:p>
        </p:txBody>
      </p:sp>
      <p:sp>
        <p:nvSpPr>
          <p:cNvPr id="28" name="Text 20"/>
          <p:cNvSpPr/>
          <p:nvPr/>
        </p:nvSpPr>
        <p:spPr>
          <a:xfrm>
            <a:off x="940165" y="3653219"/>
            <a:ext cx="1155766" cy="143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Data Manipulation</a:t>
            </a:r>
            <a:endParaRPr lang="en-US" sz="1100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25428" y="2723862"/>
            <a:ext cx="257175" cy="257175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3021018" y="3095337"/>
            <a:ext cx="1065997" cy="1447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100" b="1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Analytics &amp; ML</a:t>
            </a:r>
            <a:endParaRPr lang="en-US" sz="1100" dirty="0"/>
          </a:p>
        </p:txBody>
      </p:sp>
      <p:sp>
        <p:nvSpPr>
          <p:cNvPr id="31" name="Text 22"/>
          <p:cNvSpPr/>
          <p:nvPr/>
        </p:nvSpPr>
        <p:spPr>
          <a:xfrm>
            <a:off x="3198149" y="3320365"/>
            <a:ext cx="711733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2D374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Scikit-learn</a:t>
            </a:r>
            <a:endParaRPr lang="en-US" sz="1100" dirty="0"/>
          </a:p>
        </p:txBody>
      </p:sp>
      <p:sp>
        <p:nvSpPr>
          <p:cNvPr id="32" name="Text 23"/>
          <p:cNvSpPr/>
          <p:nvPr/>
        </p:nvSpPr>
        <p:spPr>
          <a:xfrm>
            <a:off x="3299124" y="3497507"/>
            <a:ext cx="509756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2D374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Prophet</a:t>
            </a:r>
            <a:endParaRPr lang="en-US" sz="1100" dirty="0"/>
          </a:p>
        </p:txBody>
      </p:sp>
      <p:sp>
        <p:nvSpPr>
          <p:cNvPr id="33" name="Text 24"/>
          <p:cNvSpPr/>
          <p:nvPr/>
        </p:nvSpPr>
        <p:spPr>
          <a:xfrm>
            <a:off x="3206965" y="3653219"/>
            <a:ext cx="694101" cy="143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Predictions</a:t>
            </a:r>
            <a:endParaRPr lang="en-US" sz="1100" dirty="0"/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61397" y="2723862"/>
            <a:ext cx="257175" cy="257175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5121106" y="3095337"/>
            <a:ext cx="937757" cy="1447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100" b="1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Visualization</a:t>
            </a:r>
            <a:endParaRPr lang="en-US" sz="1100" dirty="0"/>
          </a:p>
        </p:txBody>
      </p:sp>
      <p:sp>
        <p:nvSpPr>
          <p:cNvPr id="36" name="Text 26"/>
          <p:cNvSpPr/>
          <p:nvPr/>
        </p:nvSpPr>
        <p:spPr>
          <a:xfrm>
            <a:off x="5407229" y="3320365"/>
            <a:ext cx="365486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2D374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Plotly</a:t>
            </a:r>
            <a:endParaRPr lang="en-US" sz="1100" dirty="0"/>
          </a:p>
        </p:txBody>
      </p:sp>
      <p:sp>
        <p:nvSpPr>
          <p:cNvPr id="37" name="Text 27"/>
          <p:cNvSpPr/>
          <p:nvPr/>
        </p:nvSpPr>
        <p:spPr>
          <a:xfrm>
            <a:off x="5260554" y="3497507"/>
            <a:ext cx="658835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2D374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Matplotlib</a:t>
            </a:r>
            <a:endParaRPr lang="en-US" sz="1100" dirty="0"/>
          </a:p>
        </p:txBody>
      </p:sp>
      <p:sp>
        <p:nvSpPr>
          <p:cNvPr id="38" name="Text 28"/>
          <p:cNvSpPr/>
          <p:nvPr/>
        </p:nvSpPr>
        <p:spPr>
          <a:xfrm>
            <a:off x="5330270" y="3674650"/>
            <a:ext cx="519373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2D374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Seaborn</a:t>
            </a:r>
            <a:endParaRPr lang="en-US" sz="1100" dirty="0"/>
          </a:p>
        </p:txBody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13439" y="2723862"/>
            <a:ext cx="225028" cy="257175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7092154" y="3095337"/>
            <a:ext cx="1067600" cy="1447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100" b="1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Authentication</a:t>
            </a:r>
            <a:endParaRPr lang="en-US" sz="1100" dirty="0"/>
          </a:p>
        </p:txBody>
      </p:sp>
      <p:sp>
        <p:nvSpPr>
          <p:cNvPr id="41" name="Text 30"/>
          <p:cNvSpPr/>
          <p:nvPr/>
        </p:nvSpPr>
        <p:spPr>
          <a:xfrm>
            <a:off x="7479265" y="3320365"/>
            <a:ext cx="293350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2D374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JWT</a:t>
            </a:r>
            <a:endParaRPr lang="en-US" sz="1100" dirty="0"/>
          </a:p>
        </p:txBody>
      </p:sp>
      <p:sp>
        <p:nvSpPr>
          <p:cNvPr id="42" name="Text 31"/>
          <p:cNvSpPr/>
          <p:nvPr/>
        </p:nvSpPr>
        <p:spPr>
          <a:xfrm>
            <a:off x="7153854" y="3635786"/>
            <a:ext cx="984245" cy="143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Secure Sessions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54459" y="507841"/>
            <a:ext cx="8001000" cy="3462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b="1" u="sng" dirty="0">
                <a:solidFill>
                  <a:srgbClr val="2D3748"/>
                </a:solidFill>
                <a:latin typeface="+mj-lt"/>
                <a:ea typeface="Merriweather" pitchFamily="34" charset="-122"/>
                <a:cs typeface="Merriweather" pitchFamily="34" charset="-120"/>
              </a:rPr>
              <a:t>Milestone 1 : Secure Authentication &amp; Transaction Entry</a:t>
            </a:r>
            <a:endParaRPr lang="en-US" sz="2400" u="sng" dirty="0">
              <a:latin typeface="+mj-lt"/>
            </a:endParaRPr>
          </a:p>
        </p:txBody>
      </p:sp>
      <p:sp>
        <p:nvSpPr>
          <p:cNvPr id="4" name="Text 1"/>
          <p:cNvSpPr/>
          <p:nvPr/>
        </p:nvSpPr>
        <p:spPr>
          <a:xfrm>
            <a:off x="554459" y="948441"/>
            <a:ext cx="4591000" cy="1336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100" b="1" dirty="0">
                <a:solidFill>
                  <a:schemeClr val="accent3">
                    <a:lumMod val="50000"/>
                  </a:scheme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Building the core authentication system and transaction logging interface</a:t>
            </a:r>
            <a:endParaRPr lang="en-US" sz="11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6" name="Text 2"/>
          <p:cNvSpPr/>
          <p:nvPr/>
        </p:nvSpPr>
        <p:spPr>
          <a:xfrm>
            <a:off x="814388" y="1230511"/>
            <a:ext cx="924933" cy="1842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u="sng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Objectives</a:t>
            </a:r>
            <a:endParaRPr lang="en-US" sz="1400" u="sng" dirty="0"/>
          </a:p>
        </p:txBody>
      </p:sp>
      <p:sp>
        <p:nvSpPr>
          <p:cNvPr id="7" name="Text 3"/>
          <p:cNvSpPr/>
          <p:nvPr/>
        </p:nvSpPr>
        <p:spPr>
          <a:xfrm>
            <a:off x="712492" y="1532880"/>
            <a:ext cx="60914" cy="1910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050" b="1" dirty="0">
                <a:solidFill>
                  <a:schemeClr val="accent3">
                    <a:lumMod val="50000"/>
                  </a:schemeClr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</a:t>
            </a:r>
            <a:endParaRPr lang="en-US" sz="105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8" name="Text 4"/>
          <p:cNvSpPr/>
          <p:nvPr/>
        </p:nvSpPr>
        <p:spPr>
          <a:xfrm>
            <a:off x="892970" y="1542976"/>
            <a:ext cx="3439523" cy="333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Implement secure registration and login system using JWT authentication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635793" y="1915743"/>
            <a:ext cx="214313" cy="191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050" b="1" dirty="0">
                <a:solidFill>
                  <a:schemeClr val="accent3">
                    <a:lumMod val="50000"/>
                  </a:schemeClr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2</a:t>
            </a:r>
            <a:endParaRPr lang="en-US" sz="105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0" name="Text 6"/>
          <p:cNvSpPr/>
          <p:nvPr/>
        </p:nvSpPr>
        <p:spPr>
          <a:xfrm>
            <a:off x="892969" y="1924843"/>
            <a:ext cx="3306237" cy="333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Create multi-business profile management for users to manage multiple businesses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704478" y="2262831"/>
            <a:ext cx="76944" cy="1910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050" b="1" dirty="0">
                <a:solidFill>
                  <a:schemeClr val="accent3">
                    <a:lumMod val="50000"/>
                  </a:schemeClr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3</a:t>
            </a:r>
            <a:endParaRPr lang="en-US" sz="105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2" name="Text 8"/>
          <p:cNvSpPr/>
          <p:nvPr/>
        </p:nvSpPr>
        <p:spPr>
          <a:xfrm>
            <a:off x="892970" y="2305153"/>
            <a:ext cx="3357562" cy="333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Build intuitive sales and expense input forms with quick transaction entry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814388" y="2923877"/>
            <a:ext cx="2250616" cy="1842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u="sng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Technologies &amp; Libraries</a:t>
            </a:r>
            <a:endParaRPr lang="en-US" sz="1400" u="sng" dirty="0"/>
          </a:p>
        </p:txBody>
      </p:sp>
      <p:sp>
        <p:nvSpPr>
          <p:cNvPr id="15" name="Text 10"/>
          <p:cNvSpPr/>
          <p:nvPr/>
        </p:nvSpPr>
        <p:spPr>
          <a:xfrm>
            <a:off x="685608" y="3418606"/>
            <a:ext cx="65" cy="1243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88213" y="3330670"/>
            <a:ext cx="2584041" cy="1240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100" b="1" dirty="0">
                <a:solidFill>
                  <a:srgbClr val="2D374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JWT</a:t>
            </a:r>
            <a:r>
              <a:rPr lang="en-US" sz="110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- Secure token-based authentication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85673" y="3589734"/>
            <a:ext cx="2551981" cy="1240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100" b="1" dirty="0">
                <a:solidFill>
                  <a:srgbClr val="2D374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SQLAlchemy</a:t>
            </a:r>
            <a:r>
              <a:rPr lang="en-US" sz="110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- Object-relational mapping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571500" y="3215022"/>
            <a:ext cx="65" cy="1243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680288" y="3828291"/>
            <a:ext cx="2255426" cy="1240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100" b="1" dirty="0">
                <a:solidFill>
                  <a:srgbClr val="2D374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Streamlit</a:t>
            </a:r>
            <a:r>
              <a:rPr lang="en-US" sz="110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- Interactive UI framework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709113" y="4107473"/>
            <a:ext cx="1636666" cy="1240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100" b="1" dirty="0">
                <a:solidFill>
                  <a:srgbClr val="2D374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SQLite</a:t>
            </a:r>
            <a:r>
              <a:rPr lang="en-US" sz="110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- Database storage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750593" y="1251874"/>
            <a:ext cx="1484381" cy="1842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Expected Output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4893469" y="1667596"/>
            <a:ext cx="1546001" cy="1127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1050" b="1" kern="0" spc="1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SYSTEM COMPONENT 1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4918511" y="1942940"/>
            <a:ext cx="1881925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User Authentication System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4893469" y="2214872"/>
            <a:ext cx="3357561" cy="423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Fully functional JWT-based authentication with secure login, registration, and session management. Multi-business profile support with role-based access control.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4893469" y="3207851"/>
            <a:ext cx="1546001" cy="1127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1050" b="1" kern="0" spc="1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SYSTEM COMPONENT 2</a:t>
            </a:r>
            <a:endParaRPr lang="en-US" sz="1050" dirty="0"/>
          </a:p>
        </p:txBody>
      </p:sp>
      <p:sp>
        <p:nvSpPr>
          <p:cNvPr id="33" name="Text 27"/>
          <p:cNvSpPr/>
          <p:nvPr/>
        </p:nvSpPr>
        <p:spPr>
          <a:xfrm>
            <a:off x="4893469" y="3512790"/>
            <a:ext cx="2063065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Transaction Logging Interface</a:t>
            </a:r>
            <a:endParaRPr lang="en-US" sz="1050" dirty="0"/>
          </a:p>
        </p:txBody>
      </p:sp>
      <p:sp>
        <p:nvSpPr>
          <p:cNvPr id="34" name="Text 28"/>
          <p:cNvSpPr/>
          <p:nvPr/>
        </p:nvSpPr>
        <p:spPr>
          <a:xfrm>
            <a:off x="4893469" y="3807840"/>
            <a:ext cx="3536156" cy="423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Intuitive dashboard for quick transaction entry with real-time data logging, expense categorization, and receipt attachment capabilities.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57753F-7603-B474-C13A-4437571374CB}"/>
              </a:ext>
            </a:extLst>
          </p:cNvPr>
          <p:cNvSpPr txBox="1"/>
          <p:nvPr/>
        </p:nvSpPr>
        <p:spPr>
          <a:xfrm>
            <a:off x="513470" y="508168"/>
            <a:ext cx="45860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/>
              <a:t>Snapshot :</a:t>
            </a:r>
            <a:endParaRPr lang="en-IN" b="1" u="s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806532-F09E-C9A7-AC12-1A7C650E0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384" y="877500"/>
            <a:ext cx="7624689" cy="3596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7246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354817" y="-1518726"/>
            <a:ext cx="9144000" cy="56631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28" y="570648"/>
            <a:ext cx="8001000" cy="3462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b="1" u="sng" dirty="0">
                <a:solidFill>
                  <a:srgbClr val="2D3748"/>
                </a:solidFill>
                <a:latin typeface="+mj-lt"/>
                <a:ea typeface="Merriweather" pitchFamily="34" charset="-122"/>
                <a:cs typeface="Merriweather" pitchFamily="34" charset="-120"/>
              </a:rPr>
              <a:t>Milestone 2 - Profit Calculation &amp; Inventory Management</a:t>
            </a:r>
            <a:endParaRPr lang="en-US" sz="2400" u="sng" dirty="0">
              <a:latin typeface="+mj-lt"/>
            </a:endParaRPr>
          </a:p>
        </p:txBody>
      </p:sp>
      <p:sp>
        <p:nvSpPr>
          <p:cNvPr id="4" name="Text 1"/>
          <p:cNvSpPr/>
          <p:nvPr/>
        </p:nvSpPr>
        <p:spPr>
          <a:xfrm>
            <a:off x="571528" y="1102515"/>
            <a:ext cx="4153381" cy="143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100" dirty="0">
                <a:solidFill>
                  <a:schemeClr val="accent3">
                    <a:lumMod val="50000"/>
                  </a:scheme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Core functionality for financial tracking and inventory management</a:t>
            </a:r>
            <a:endParaRPr lang="en-US" sz="11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686841" y="1568047"/>
            <a:ext cx="924933" cy="1649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400" b="1" u="sng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Objectives</a:t>
            </a:r>
            <a:endParaRPr lang="en-US" sz="1400" u="sng" dirty="0"/>
          </a:p>
        </p:txBody>
      </p:sp>
      <p:sp>
        <p:nvSpPr>
          <p:cNvPr id="6" name="Text 3"/>
          <p:cNvSpPr/>
          <p:nvPr/>
        </p:nvSpPr>
        <p:spPr>
          <a:xfrm>
            <a:off x="603070" y="1856196"/>
            <a:ext cx="214313" cy="1696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chemeClr val="accent3">
                    <a:lumMod val="50000"/>
                  </a:schemeClr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</a:t>
            </a:r>
            <a:endParaRPr lang="en-US" sz="987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807251" y="1848570"/>
            <a:ext cx="2261492" cy="531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chemeClr val="accent3">
                    <a:lumMod val="50000"/>
                  </a:scheme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Implement automated profit calculation logic for daily, weekly, and monthly periods</a:t>
            </a:r>
            <a:endParaRPr lang="en-US" sz="11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599779" y="2494287"/>
            <a:ext cx="214313" cy="1696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chemeClr val="accent3">
                    <a:lumMod val="50000"/>
                  </a:schemeClr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2</a:t>
            </a:r>
            <a:endParaRPr lang="en-US" sz="987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817383" y="2508350"/>
            <a:ext cx="2331932" cy="531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chemeClr val="accent3">
                    <a:lumMod val="50000"/>
                  </a:scheme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Add inventory tracking system with COGS (Cost of Goods Sold) computation</a:t>
            </a:r>
            <a:endParaRPr lang="en-US" sz="105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571500" y="3184329"/>
            <a:ext cx="214313" cy="1696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chemeClr val="accent3">
                    <a:lumMod val="50000"/>
                  </a:schemeClr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3</a:t>
            </a:r>
            <a:endParaRPr lang="en-US" sz="987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785813" y="3207861"/>
            <a:ext cx="2331932" cy="531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chemeClr val="accent3">
                    <a:lumMod val="50000"/>
                  </a:scheme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Create simple dashboard displaying daily totals, profit margins, and inventory status</a:t>
            </a:r>
            <a:endParaRPr lang="en-US" sz="11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5" name="Text 11"/>
          <p:cNvSpPr/>
          <p:nvPr/>
        </p:nvSpPr>
        <p:spPr>
          <a:xfrm>
            <a:off x="3446692" y="1646046"/>
            <a:ext cx="2250616" cy="1553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400" b="1" u="sng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Technologies &amp; Libraries</a:t>
            </a:r>
            <a:endParaRPr lang="en-US" sz="1400" u="sng" dirty="0"/>
          </a:p>
        </p:txBody>
      </p:sp>
      <p:sp>
        <p:nvSpPr>
          <p:cNvPr id="16" name="Text 12"/>
          <p:cNvSpPr/>
          <p:nvPr/>
        </p:nvSpPr>
        <p:spPr>
          <a:xfrm>
            <a:off x="3401854" y="2026900"/>
            <a:ext cx="1805174" cy="12407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100" dirty="0">
                <a:solidFill>
                  <a:schemeClr val="accent3">
                    <a:lumMod val="50000"/>
                  </a:scheme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Pandas - Data calculations</a:t>
            </a:r>
            <a:endParaRPr lang="en-US" sz="11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7" name="Text 13"/>
          <p:cNvSpPr/>
          <p:nvPr/>
        </p:nvSpPr>
        <p:spPr>
          <a:xfrm>
            <a:off x="3401854" y="2279006"/>
            <a:ext cx="2136995" cy="12407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100" dirty="0">
                <a:solidFill>
                  <a:schemeClr val="accent3">
                    <a:lumMod val="50000"/>
                  </a:scheme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SQLAlchemy - Data persistence</a:t>
            </a:r>
            <a:endParaRPr lang="en-US" sz="11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8" name="Text 14"/>
          <p:cNvSpPr/>
          <p:nvPr/>
        </p:nvSpPr>
        <p:spPr>
          <a:xfrm>
            <a:off x="3430708" y="2529780"/>
            <a:ext cx="1747466" cy="12407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100" dirty="0">
                <a:solidFill>
                  <a:schemeClr val="accent3">
                    <a:lumMod val="50000"/>
                  </a:scheme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Plotly - Dashboard charts</a:t>
            </a:r>
            <a:endParaRPr lang="en-US" sz="11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9" name="Text 15"/>
          <p:cNvSpPr/>
          <p:nvPr/>
        </p:nvSpPr>
        <p:spPr>
          <a:xfrm>
            <a:off x="3446692" y="2777182"/>
            <a:ext cx="1301831" cy="12407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100" dirty="0">
                <a:solidFill>
                  <a:schemeClr val="accent3">
                    <a:lumMod val="50000"/>
                  </a:scheme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SQLite - Database</a:t>
            </a:r>
            <a:endParaRPr lang="en-US" sz="11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4" name="Text 20"/>
          <p:cNvSpPr/>
          <p:nvPr/>
        </p:nvSpPr>
        <p:spPr>
          <a:xfrm>
            <a:off x="6307637" y="1654097"/>
            <a:ext cx="1484381" cy="1649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400" b="1" u="sng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Expected Output</a:t>
            </a:r>
            <a:endParaRPr lang="en-US" sz="1400" u="sng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2008" y="1956494"/>
            <a:ext cx="214313" cy="214313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454043" y="1995457"/>
            <a:ext cx="1210268" cy="1351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100" b="1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Profit Dashboard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6452669" y="2148183"/>
            <a:ext cx="1884080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Revenue, expenses, net profit visualization</a:t>
            </a:r>
            <a:endParaRPr lang="en-US" sz="110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4872" y="2622512"/>
            <a:ext cx="206344" cy="183417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452669" y="2658798"/>
            <a:ext cx="1248740" cy="1351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100" b="1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Inventory System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6466084" y="2839218"/>
            <a:ext cx="2164850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COGS alerts and low-stock notifications</a:t>
            </a:r>
            <a:endParaRPr lang="en-US" sz="1100" dirty="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6977" y="3206102"/>
            <a:ext cx="144238" cy="23078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6466084" y="3266153"/>
            <a:ext cx="1503617" cy="1351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100" b="1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Current Month Profit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6472230" y="3401318"/>
            <a:ext cx="463268" cy="1756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E53E3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+</a:t>
            </a:r>
            <a:r>
              <a:rPr lang="en-US" sz="885" b="1" dirty="0">
                <a:solidFill>
                  <a:schemeClr val="accent3">
                    <a:lumMod val="50000"/>
                  </a:schemeClr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53,248</a:t>
            </a:r>
            <a:endParaRPr lang="en-US" sz="885" dirty="0">
              <a:solidFill>
                <a:schemeClr val="accent3">
                  <a:lumMod val="50000"/>
                </a:schemeClr>
              </a:solidFill>
            </a:endParaRPr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6977" y="3704926"/>
            <a:ext cx="218361" cy="218361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6536025" y="3733349"/>
            <a:ext cx="1165384" cy="1351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100" b="1" dirty="0">
                <a:solidFill>
                  <a:schemeClr val="accent3">
                    <a:lumMod val="50000"/>
                  </a:schemeClr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Low Stock Items</a:t>
            </a:r>
            <a:endParaRPr lang="en-US" sz="11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36" name="Text 28"/>
          <p:cNvSpPr/>
          <p:nvPr/>
        </p:nvSpPr>
        <p:spPr>
          <a:xfrm>
            <a:off x="6508671" y="3947975"/>
            <a:ext cx="1155766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dirty="0">
                <a:solidFill>
                  <a:schemeClr val="accent3">
                    <a:lumMod val="50000"/>
                  </a:schemeClr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5 items</a:t>
            </a:r>
            <a:r>
              <a:rPr lang="en-US" sz="1100" dirty="0">
                <a:solidFill>
                  <a:schemeClr val="accent3">
                    <a:lumMod val="50000"/>
                  </a:scheme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identified</a:t>
            </a:r>
            <a:endParaRPr lang="en-US" sz="1100" dirty="0">
              <a:solidFill>
                <a:schemeClr val="accent3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1D6FB51-2DD3-AFAF-B49D-6EB10FB3A7A8}"/>
              </a:ext>
            </a:extLst>
          </p:cNvPr>
          <p:cNvSpPr txBox="1"/>
          <p:nvPr/>
        </p:nvSpPr>
        <p:spPr>
          <a:xfrm>
            <a:off x="555673" y="515202"/>
            <a:ext cx="45860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/>
              <a:t>Snapshot :</a:t>
            </a:r>
            <a:endParaRPr lang="en-IN" b="1" u="s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CEF28B-7B12-B1D0-16A9-381A31382C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405" y="1041009"/>
            <a:ext cx="7397838" cy="3307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2658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442918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6996" y="560114"/>
            <a:ext cx="8001000" cy="3462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b="1" u="sng" dirty="0">
                <a:solidFill>
                  <a:srgbClr val="2D3748"/>
                </a:solidFill>
                <a:latin typeface="+mj-lt"/>
                <a:ea typeface="Merriweather" pitchFamily="34" charset="-122"/>
                <a:cs typeface="Merriweather" pitchFamily="34" charset="-120"/>
              </a:rPr>
              <a:t>Milestone 3 - AI-Powered Analytics &amp; Forecasting</a:t>
            </a:r>
            <a:endParaRPr lang="en-US" sz="2400" u="sng" dirty="0">
              <a:latin typeface="+mj-lt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6275" y="1039841"/>
            <a:ext cx="4267194" cy="1336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Advanced analytics, interactive visualization, and predictive modeling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2937" y="1530153"/>
            <a:ext cx="924933" cy="1842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u="sng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Objectives</a:t>
            </a:r>
            <a:endParaRPr lang="en-US" sz="1400" u="sng" dirty="0"/>
          </a:p>
        </p:txBody>
      </p:sp>
      <p:sp>
        <p:nvSpPr>
          <p:cNvPr id="6" name="Text 3"/>
          <p:cNvSpPr/>
          <p:nvPr/>
        </p:nvSpPr>
        <p:spPr>
          <a:xfrm>
            <a:off x="535781" y="1860082"/>
            <a:ext cx="214313" cy="196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chemeClr val="accent3">
                    <a:lumMod val="50000"/>
                  </a:schemeClr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</a:t>
            </a:r>
            <a:endParaRPr lang="en-US" sz="1193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785813" y="1875721"/>
            <a:ext cx="2636420" cy="531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chemeClr val="accent3">
                    <a:lumMod val="50000"/>
                  </a:scheme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Create interactive charts for sales trends, profit margins, and expense categories with multi-metric visualization.</a:t>
            </a:r>
            <a:endParaRPr lang="en-US" sz="11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526037" y="2576738"/>
            <a:ext cx="214313" cy="196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chemeClr val="accent3">
                    <a:lumMod val="50000"/>
                  </a:schemeClr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2</a:t>
            </a:r>
            <a:endParaRPr lang="en-US" sz="1193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811787" y="2621980"/>
            <a:ext cx="2484925" cy="531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chemeClr val="accent3">
                    <a:lumMod val="50000"/>
                  </a:scheme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Implement AI-based forecasting using Prophet or Scikit-learn regression models for predictive analytics.</a:t>
            </a:r>
            <a:endParaRPr lang="en-US" sz="11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526414" y="3384757"/>
            <a:ext cx="214313" cy="196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chemeClr val="accent3">
                    <a:lumMod val="50000"/>
                  </a:schemeClr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3</a:t>
            </a:r>
            <a:endParaRPr lang="en-US" sz="1193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785813" y="3406675"/>
            <a:ext cx="2266186" cy="531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chemeClr val="accent3">
                    <a:lumMod val="50000"/>
                  </a:scheme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Build category-wise expense breakdown views with trend analysis and comparative insights</a:t>
            </a:r>
            <a:endParaRPr lang="en-US" sz="11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2" name="Shape 9"/>
          <p:cNvSpPr/>
          <p:nvPr/>
        </p:nvSpPr>
        <p:spPr>
          <a:xfrm>
            <a:off x="4690765" y="1416315"/>
            <a:ext cx="3821906" cy="1169789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5" name="Text 11"/>
          <p:cNvSpPr/>
          <p:nvPr/>
        </p:nvSpPr>
        <p:spPr>
          <a:xfrm>
            <a:off x="3588619" y="1560078"/>
            <a:ext cx="2250616" cy="1649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400" b="1" u="sng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Technologies &amp; Libraries</a:t>
            </a:r>
            <a:endParaRPr lang="en-US" sz="1400" u="sng" dirty="0"/>
          </a:p>
        </p:txBody>
      </p:sp>
      <p:sp>
        <p:nvSpPr>
          <p:cNvPr id="16" name="Text 12"/>
          <p:cNvSpPr/>
          <p:nvPr/>
        </p:nvSpPr>
        <p:spPr>
          <a:xfrm>
            <a:off x="3720107" y="1897036"/>
            <a:ext cx="2077492" cy="1240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100" b="1" dirty="0">
                <a:solidFill>
                  <a:schemeClr val="accent3">
                    <a:lumMod val="50000"/>
                  </a:scheme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Prophet</a:t>
            </a:r>
            <a:r>
              <a:rPr lang="en-US" sz="1100" dirty="0">
                <a:solidFill>
                  <a:schemeClr val="accent3">
                    <a:lumMod val="50000"/>
                  </a:scheme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- Time-series forecasting</a:t>
            </a:r>
            <a:endParaRPr lang="en-US" sz="11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7" name="Text 13"/>
          <p:cNvSpPr/>
          <p:nvPr/>
        </p:nvSpPr>
        <p:spPr>
          <a:xfrm>
            <a:off x="3720107" y="2128832"/>
            <a:ext cx="2196114" cy="1240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100" b="1" dirty="0">
                <a:solidFill>
                  <a:schemeClr val="accent3">
                    <a:lumMod val="50000"/>
                  </a:scheme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Scikit-learn</a:t>
            </a:r>
            <a:r>
              <a:rPr lang="en-US" sz="1100" dirty="0">
                <a:solidFill>
                  <a:schemeClr val="accent3">
                    <a:lumMod val="50000"/>
                  </a:scheme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- ML regression models</a:t>
            </a:r>
            <a:endParaRPr lang="en-US" sz="11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8" name="Text 14"/>
          <p:cNvSpPr/>
          <p:nvPr/>
        </p:nvSpPr>
        <p:spPr>
          <a:xfrm>
            <a:off x="3743106" y="2371615"/>
            <a:ext cx="2014975" cy="1240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100" b="1" dirty="0">
                <a:solidFill>
                  <a:schemeClr val="accent3">
                    <a:lumMod val="50000"/>
                  </a:scheme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Plotly</a:t>
            </a:r>
            <a:r>
              <a:rPr lang="en-US" sz="1100" dirty="0">
                <a:solidFill>
                  <a:schemeClr val="accent3">
                    <a:lumMod val="50000"/>
                  </a:scheme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- Interactive visualizations</a:t>
            </a:r>
            <a:endParaRPr lang="en-US" sz="11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9" name="Text 15"/>
          <p:cNvSpPr/>
          <p:nvPr/>
        </p:nvSpPr>
        <p:spPr>
          <a:xfrm>
            <a:off x="3743106" y="2642777"/>
            <a:ext cx="1720023" cy="1240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100" b="1" dirty="0">
                <a:solidFill>
                  <a:schemeClr val="accent3">
                    <a:lumMod val="50000"/>
                  </a:scheme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Pandas</a:t>
            </a:r>
            <a:r>
              <a:rPr lang="en-US" sz="1100" dirty="0">
                <a:solidFill>
                  <a:schemeClr val="accent3">
                    <a:lumMod val="50000"/>
                  </a:scheme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- Data manipulation</a:t>
            </a:r>
            <a:endParaRPr lang="en-US" sz="1100" dirty="0">
              <a:solidFill>
                <a:schemeClr val="accent3">
                  <a:lumMod val="50000"/>
                </a:schemeClr>
              </a:solidFill>
            </a:endParaRPr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0725" y="1800115"/>
            <a:ext cx="220994" cy="22099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661547" y="1530153"/>
            <a:ext cx="1577355" cy="1649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400" b="1" u="sng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Expected Outputs</a:t>
            </a:r>
            <a:endParaRPr lang="en-US" sz="1400" u="sng" dirty="0"/>
          </a:p>
        </p:txBody>
      </p:sp>
      <p:sp>
        <p:nvSpPr>
          <p:cNvPr id="25" name="Text 19"/>
          <p:cNvSpPr/>
          <p:nvPr/>
        </p:nvSpPr>
        <p:spPr>
          <a:xfrm>
            <a:off x="6768257" y="1791240"/>
            <a:ext cx="1911222" cy="4616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dirty="0">
                <a:solidFill>
                  <a:schemeClr val="accent3">
                    <a:lumMod val="50000"/>
                  </a:scheme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Interactive Analytics Dashboard with multi-metric trend lines</a:t>
            </a:r>
            <a:endParaRPr lang="en-US" sz="11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7" name="Text 20"/>
          <p:cNvSpPr/>
          <p:nvPr/>
        </p:nvSpPr>
        <p:spPr>
          <a:xfrm>
            <a:off x="6766545" y="2362411"/>
            <a:ext cx="1577355" cy="4616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dirty="0">
                <a:solidFill>
                  <a:schemeClr val="accent3">
                    <a:lumMod val="50000"/>
                  </a:scheme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AI-Based Forecasting Interface with next month predictions</a:t>
            </a:r>
            <a:endParaRPr lang="en-US" sz="11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9" name="Text 21"/>
          <p:cNvSpPr/>
          <p:nvPr/>
        </p:nvSpPr>
        <p:spPr>
          <a:xfrm>
            <a:off x="6761093" y="2920181"/>
            <a:ext cx="1960574" cy="4616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dirty="0">
                <a:solidFill>
                  <a:schemeClr val="accent3">
                    <a:lumMod val="50000"/>
                  </a:scheme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Category-wise expense breakdown with visual comparisons</a:t>
            </a:r>
            <a:endParaRPr lang="en-US" sz="11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32" name="Text 24"/>
          <p:cNvSpPr/>
          <p:nvPr/>
        </p:nvSpPr>
        <p:spPr>
          <a:xfrm>
            <a:off x="6801701" y="3440114"/>
            <a:ext cx="562655" cy="2321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chemeClr val="accent3">
                    <a:lumMod val="50000"/>
                  </a:schemeClr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32.5%</a:t>
            </a:r>
            <a:endParaRPr lang="en-US" sz="1397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33" name="Text 25"/>
          <p:cNvSpPr/>
          <p:nvPr/>
        </p:nvSpPr>
        <p:spPr>
          <a:xfrm>
            <a:off x="6801701" y="3783189"/>
            <a:ext cx="1311148" cy="3549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100" dirty="0">
                <a:solidFill>
                  <a:schemeClr val="accent3">
                    <a:lumMod val="50000"/>
                  </a:scheme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Profit Margin | Next</a:t>
            </a:r>
          </a:p>
          <a:p>
            <a:pPr marL="0" indent="0" algn="l">
              <a:lnSpc>
                <a:spcPts val="900"/>
              </a:lnSpc>
              <a:buNone/>
            </a:pPr>
            <a:endParaRPr lang="en-US" sz="1100" dirty="0">
              <a:solidFill>
                <a:schemeClr val="accent3">
                  <a:lumMod val="50000"/>
                </a:schemeClr>
              </a:solidFill>
              <a:latin typeface="Lato" pitchFamily="34" charset="0"/>
              <a:ea typeface="Lato" pitchFamily="34" charset="-122"/>
              <a:cs typeface="Lato" pitchFamily="34" charset="-120"/>
            </a:endParaRPr>
          </a:p>
          <a:p>
            <a:pPr marL="0" indent="0" algn="l">
              <a:lnSpc>
                <a:spcPts val="900"/>
              </a:lnSpc>
              <a:buNone/>
            </a:pPr>
            <a:r>
              <a:rPr lang="en-US" sz="1100" dirty="0">
                <a:solidFill>
                  <a:schemeClr val="accent3">
                    <a:lumMod val="50000"/>
                  </a:scheme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Month: +51,320</a:t>
            </a:r>
            <a:endParaRPr lang="en-US" sz="1100" dirty="0">
              <a:solidFill>
                <a:schemeClr val="accent3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761C8AE-BB63-03E4-F91C-43BF9C75AA44}"/>
              </a:ext>
            </a:extLst>
          </p:cNvPr>
          <p:cNvSpPr txBox="1"/>
          <p:nvPr/>
        </p:nvSpPr>
        <p:spPr>
          <a:xfrm>
            <a:off x="520504" y="501134"/>
            <a:ext cx="45860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/>
              <a:t>Snapshot :</a:t>
            </a:r>
            <a:endParaRPr lang="en-IN" b="1" u="sng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9488785-8232-C138-BC88-DADAC58119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858" y="870465"/>
            <a:ext cx="6569613" cy="3775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2595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575949"/>
            <a:ext cx="5851730" cy="3462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b="1" u="sng" dirty="0">
                <a:solidFill>
                  <a:srgbClr val="2D3748"/>
                </a:solidFill>
                <a:latin typeface="+mj-lt"/>
                <a:ea typeface="Merriweather" pitchFamily="34" charset="-122"/>
                <a:cs typeface="Merriweather" pitchFamily="34" charset="-120"/>
              </a:rPr>
              <a:t>Milestone 4 - Reports, Admin &amp; Deployment</a:t>
            </a:r>
            <a:endParaRPr lang="en-US" sz="2400" u="sng" dirty="0">
              <a:latin typeface="+mj-lt"/>
            </a:endParaRPr>
          </a:p>
        </p:txBody>
      </p:sp>
      <p:sp>
        <p:nvSpPr>
          <p:cNvPr id="4" name="Text 1"/>
          <p:cNvSpPr/>
          <p:nvPr/>
        </p:nvSpPr>
        <p:spPr>
          <a:xfrm>
            <a:off x="571500" y="1016766"/>
            <a:ext cx="3576300" cy="143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Final phase: Reports, Administration &amp; Cloud Deployment</a:t>
            </a:r>
            <a:endParaRPr lang="en-US" sz="11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2728" y="1880112"/>
            <a:ext cx="192881" cy="2571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881919" y="1885137"/>
            <a:ext cx="1304844" cy="1544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Report Generation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5892577" y="2163665"/>
            <a:ext cx="3446859" cy="166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100" dirty="0">
                <a:solidFill>
                  <a:schemeClr val="accent3">
                    <a:lumMod val="50000"/>
                  </a:scheme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Build PDF and Excel report generation.</a:t>
            </a:r>
            <a:endParaRPr lang="en-US" sz="1100" dirty="0">
              <a:solidFill>
                <a:schemeClr val="accent3">
                  <a:lumMod val="50000"/>
                </a:schemeClr>
              </a:solidFill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4740" y="3312087"/>
            <a:ext cx="289322" cy="25717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912375" y="3363475"/>
            <a:ext cx="1274388" cy="1544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Admin Dashboard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5898553" y="3596225"/>
            <a:ext cx="2576421" cy="5001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100" dirty="0">
                <a:solidFill>
                  <a:schemeClr val="accent3">
                    <a:lumMod val="50000"/>
                  </a:scheme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Create comprehensive Admin dashboard for system monitoring, user management, and business profile administration.</a:t>
            </a:r>
            <a:endParaRPr lang="en-US" sz="1100" dirty="0">
              <a:solidFill>
                <a:schemeClr val="accent3">
                  <a:lumMod val="50000"/>
                </a:schemeClr>
              </a:solidFill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7939" y="2443162"/>
            <a:ext cx="257175" cy="25717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898553" y="2508815"/>
            <a:ext cx="1737655" cy="1544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Docker Containerization</a:t>
            </a:r>
            <a:endParaRPr lang="en-US" sz="1100" dirty="0"/>
          </a:p>
        </p:txBody>
      </p:sp>
      <p:sp>
        <p:nvSpPr>
          <p:cNvPr id="13" name="Text 7"/>
          <p:cNvSpPr/>
          <p:nvPr/>
        </p:nvSpPr>
        <p:spPr>
          <a:xfrm>
            <a:off x="5898553" y="2739211"/>
            <a:ext cx="2279943" cy="5001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Containerize application with Docker for consistent deployment across environments and easy scaling.</a:t>
            </a:r>
            <a:endParaRPr lang="en-US" sz="11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70F2F6F-4838-2E4B-9A08-E2C8B9551F42}"/>
              </a:ext>
            </a:extLst>
          </p:cNvPr>
          <p:cNvSpPr txBox="1"/>
          <p:nvPr/>
        </p:nvSpPr>
        <p:spPr>
          <a:xfrm>
            <a:off x="5695609" y="1421561"/>
            <a:ext cx="1984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solidFill>
                  <a:schemeClr val="accent3">
                    <a:lumMod val="50000"/>
                  </a:schemeClr>
                </a:solidFill>
              </a:rPr>
              <a:t>Expected Outputs</a:t>
            </a:r>
            <a:endParaRPr lang="en-IN" b="1" u="sng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C4C3790-68D5-D37E-38A2-59A9F243C492}"/>
              </a:ext>
            </a:extLst>
          </p:cNvPr>
          <p:cNvSpPr txBox="1"/>
          <p:nvPr/>
        </p:nvSpPr>
        <p:spPr>
          <a:xfrm>
            <a:off x="571500" y="1431160"/>
            <a:ext cx="2488223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/>
              <a:t>Objectives</a:t>
            </a:r>
            <a:r>
              <a:rPr lang="en-IN" sz="1400" b="1" u="sng" dirty="0"/>
              <a:t>:</a:t>
            </a:r>
          </a:p>
          <a:p>
            <a:endParaRPr lang="en-IN" sz="1400" u="sng" dirty="0"/>
          </a:p>
          <a:p>
            <a:pPr marL="228600" indent="-228600">
              <a:buFont typeface="+mj-lt"/>
              <a:buAutoNum type="arabicPeriod"/>
            </a:pPr>
            <a:r>
              <a:rPr lang="en-IN" sz="11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Build PDF and Excel report generation system with customizable date .</a:t>
            </a:r>
          </a:p>
          <a:p>
            <a:pPr marL="228600" indent="-228600">
              <a:buFont typeface="+mj-lt"/>
              <a:buAutoNum type="arabicPeriod"/>
            </a:pPr>
            <a:endParaRPr lang="en-IN" sz="11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IN" sz="11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Implement email delivery functionality for automated report distribution.</a:t>
            </a:r>
          </a:p>
          <a:p>
            <a:pPr marL="228600" indent="-228600">
              <a:buFont typeface="+mj-lt"/>
              <a:buAutoNum type="arabicPeriod"/>
            </a:pPr>
            <a:endParaRPr lang="en-IN" sz="11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IN" sz="11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Create comprehensive admin dashboard for system monitoring and user management.</a:t>
            </a:r>
          </a:p>
          <a:p>
            <a:pPr marL="228600" indent="-228600">
              <a:buFont typeface="+mj-lt"/>
              <a:buAutoNum type="arabicPeriod"/>
            </a:pPr>
            <a:endParaRPr lang="en-IN" sz="11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IN" sz="11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Develop system settings configuration for currency and default preferences.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F47C0C8-65EA-A607-D4C4-4534FCD655BC}"/>
              </a:ext>
            </a:extLst>
          </p:cNvPr>
          <p:cNvSpPr txBox="1"/>
          <p:nvPr/>
        </p:nvSpPr>
        <p:spPr>
          <a:xfrm>
            <a:off x="3059723" y="1512277"/>
            <a:ext cx="2289903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/>
              <a:t>Technologies &amp; Libraries:</a:t>
            </a:r>
          </a:p>
          <a:p>
            <a:endParaRPr lang="en-IN" sz="1100" dirty="0"/>
          </a:p>
          <a:p>
            <a:r>
              <a:rPr lang="en-IN" sz="11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FPDF2</a:t>
            </a:r>
            <a:r>
              <a:rPr lang="en-IN" sz="11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 – PDF report generation</a:t>
            </a:r>
          </a:p>
          <a:p>
            <a:r>
              <a:rPr lang="en-IN" sz="1100" b="1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OpenPyXL</a:t>
            </a:r>
            <a:r>
              <a:rPr lang="en-IN" sz="11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 – Excel file creation</a:t>
            </a:r>
          </a:p>
          <a:p>
            <a:r>
              <a:rPr lang="en-IN" sz="11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Docker</a:t>
            </a:r>
            <a:r>
              <a:rPr lang="en-IN" sz="11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 – Containerization</a:t>
            </a:r>
          </a:p>
          <a:p>
            <a:r>
              <a:rPr lang="en-IN" sz="1100" b="1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Streamlit</a:t>
            </a:r>
            <a:r>
              <a:rPr lang="en-IN" sz="11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 – Admin dashboard UI</a:t>
            </a:r>
          </a:p>
          <a:p>
            <a:r>
              <a:rPr lang="en-IN" sz="11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Pandas</a:t>
            </a:r>
            <a:r>
              <a:rPr lang="en-IN" sz="11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 – Report data preparation</a:t>
            </a:r>
          </a:p>
          <a:p>
            <a:br>
              <a:rPr lang="en-IN" sz="1100" dirty="0"/>
            </a:br>
            <a:endParaRPr lang="en-IN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F0D81C-EC95-965B-AC01-1809134573B5}"/>
              </a:ext>
            </a:extLst>
          </p:cNvPr>
          <p:cNvSpPr txBox="1"/>
          <p:nvPr/>
        </p:nvSpPr>
        <p:spPr>
          <a:xfrm>
            <a:off x="555673" y="506437"/>
            <a:ext cx="1202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Snapshot :</a:t>
            </a:r>
            <a:endParaRPr lang="en-IN" b="1" u="sng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DF307DB-24BF-4BB4-22DB-0BC97D643F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046" y="970671"/>
            <a:ext cx="7877907" cy="3545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9141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7934" y="-1751678"/>
            <a:ext cx="9144000" cy="556676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90791"/>
            <a:ext cx="3186578" cy="3749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u="sng" dirty="0">
                <a:solidFill>
                  <a:srgbClr val="2D3748"/>
                </a:solidFill>
                <a:latin typeface="+mj-lt"/>
                <a:ea typeface="Merriweather" pitchFamily="34" charset="-122"/>
                <a:cs typeface="Merriweather" pitchFamily="34" charset="-120"/>
              </a:rPr>
              <a:t>Implementation Process</a:t>
            </a:r>
            <a:endParaRPr lang="en-US" sz="2400" u="sng" dirty="0">
              <a:latin typeface="+mj-lt"/>
            </a:endParaRPr>
          </a:p>
        </p:txBody>
      </p:sp>
      <p:sp>
        <p:nvSpPr>
          <p:cNvPr id="4" name="Text 1"/>
          <p:cNvSpPr/>
          <p:nvPr/>
        </p:nvSpPr>
        <p:spPr>
          <a:xfrm>
            <a:off x="571500" y="953282"/>
            <a:ext cx="3634740" cy="284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100" dirty="0">
                <a:solidFill>
                  <a:schemeClr val="accent3">
                    <a:lumMod val="50000"/>
                  </a:scheme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Structured approach across four development phases and architecture layers</a:t>
            </a:r>
            <a:endParaRPr lang="en-US" sz="1100" dirty="0">
              <a:solidFill>
                <a:schemeClr val="accent3">
                  <a:lumMod val="50000"/>
                </a:schemeClr>
              </a:solidFill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774" y="1416663"/>
            <a:ext cx="171450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85825" y="1431429"/>
            <a:ext cx="1466748" cy="1736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Development Phases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557652" y="1711822"/>
            <a:ext cx="314325" cy="314325"/>
          </a:xfrm>
          <a:prstGeom prst="ellipse">
            <a:avLst/>
          </a:prstGeom>
          <a:solidFill>
            <a:srgbClr val="E53E3E">
              <a:alpha val="10000"/>
            </a:srgbClr>
          </a:solidFill>
          <a:ln/>
        </p:spPr>
      </p:sp>
      <p:sp>
        <p:nvSpPr>
          <p:cNvPr id="8" name="Text 4"/>
          <p:cNvSpPr/>
          <p:nvPr/>
        </p:nvSpPr>
        <p:spPr>
          <a:xfrm>
            <a:off x="555564" y="1785567"/>
            <a:ext cx="314325" cy="1736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b="1" dirty="0">
                <a:solidFill>
                  <a:schemeClr val="accent3">
                    <a:lumMod val="50000"/>
                  </a:schemeClr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</a:t>
            </a:r>
            <a:endParaRPr lang="en-US" sz="11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9" name="Text 5"/>
          <p:cNvSpPr/>
          <p:nvPr/>
        </p:nvSpPr>
        <p:spPr>
          <a:xfrm>
            <a:off x="961968" y="1785567"/>
            <a:ext cx="1314462" cy="1447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100" b="1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Planning &amp; Design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92981" y="1977939"/>
            <a:ext cx="3023345" cy="284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Define requirements, design database schema, create UI mockups and system architecture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728662" y="2078661"/>
            <a:ext cx="14288" cy="214313"/>
          </a:xfrm>
          <a:prstGeom prst="rect">
            <a:avLst/>
          </a:prstGeom>
          <a:solidFill>
            <a:srgbClr val="E53E3E">
              <a:alpha val="30000"/>
            </a:srgbClr>
          </a:solidFill>
          <a:ln/>
        </p:spPr>
      </p:sp>
      <p:sp>
        <p:nvSpPr>
          <p:cNvPr id="12" name="Shape 8"/>
          <p:cNvSpPr/>
          <p:nvPr/>
        </p:nvSpPr>
        <p:spPr>
          <a:xfrm>
            <a:off x="571500" y="2357974"/>
            <a:ext cx="314325" cy="314325"/>
          </a:xfrm>
          <a:prstGeom prst="ellipse">
            <a:avLst/>
          </a:prstGeom>
          <a:solidFill>
            <a:srgbClr val="E53E3E">
              <a:alpha val="10000"/>
            </a:srgbClr>
          </a:solidFill>
          <a:ln/>
        </p:spPr>
      </p:sp>
      <p:sp>
        <p:nvSpPr>
          <p:cNvPr id="13" name="Text 9"/>
          <p:cNvSpPr/>
          <p:nvPr/>
        </p:nvSpPr>
        <p:spPr>
          <a:xfrm>
            <a:off x="578643" y="2407266"/>
            <a:ext cx="314325" cy="1736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b="1" dirty="0">
                <a:solidFill>
                  <a:schemeClr val="accent3">
                    <a:lumMod val="50000"/>
                  </a:schemeClr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2</a:t>
            </a:r>
            <a:endParaRPr lang="en-US" sz="11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4" name="Text 10"/>
          <p:cNvSpPr/>
          <p:nvPr/>
        </p:nvSpPr>
        <p:spPr>
          <a:xfrm>
            <a:off x="992981" y="2436120"/>
            <a:ext cx="940963" cy="1447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100" b="1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Development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982267" y="2612524"/>
            <a:ext cx="2914484" cy="284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Build authentication, transaction logging, profit calculations, and core business logic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742948" y="2705069"/>
            <a:ext cx="14288" cy="214313"/>
          </a:xfrm>
          <a:prstGeom prst="rect">
            <a:avLst/>
          </a:prstGeom>
          <a:solidFill>
            <a:srgbClr val="E53E3E">
              <a:alpha val="30000"/>
            </a:srgbClr>
          </a:solidFill>
          <a:ln/>
        </p:spPr>
      </p:sp>
      <p:sp>
        <p:nvSpPr>
          <p:cNvPr id="17" name="Shape 13"/>
          <p:cNvSpPr/>
          <p:nvPr/>
        </p:nvSpPr>
        <p:spPr>
          <a:xfrm>
            <a:off x="585786" y="2953447"/>
            <a:ext cx="314325" cy="314325"/>
          </a:xfrm>
          <a:prstGeom prst="ellipse">
            <a:avLst/>
          </a:prstGeom>
          <a:solidFill>
            <a:srgbClr val="E53E3E">
              <a:alpha val="10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8" name="Text 14"/>
          <p:cNvSpPr/>
          <p:nvPr/>
        </p:nvSpPr>
        <p:spPr>
          <a:xfrm>
            <a:off x="585787" y="3023836"/>
            <a:ext cx="314325" cy="1736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b="1" dirty="0">
                <a:solidFill>
                  <a:schemeClr val="accent3">
                    <a:lumMod val="50000"/>
                  </a:schemeClr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3</a:t>
            </a:r>
            <a:endParaRPr lang="en-US" sz="11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9" name="Text 15"/>
          <p:cNvSpPr/>
          <p:nvPr/>
        </p:nvSpPr>
        <p:spPr>
          <a:xfrm>
            <a:off x="1028247" y="3029802"/>
            <a:ext cx="1546898" cy="1447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100" b="1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Analytics &amp; Reporting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992981" y="3253286"/>
            <a:ext cx="2974108" cy="284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Implement forecasting, create dashboards, generate reports, and add visualizations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757237" y="3416715"/>
            <a:ext cx="14288" cy="214313"/>
          </a:xfrm>
          <a:prstGeom prst="rect">
            <a:avLst/>
          </a:prstGeom>
          <a:solidFill>
            <a:srgbClr val="E53E3E">
              <a:alpha val="30000"/>
            </a:srgbClr>
          </a:solidFill>
          <a:ln/>
        </p:spPr>
      </p:sp>
      <p:sp>
        <p:nvSpPr>
          <p:cNvPr id="22" name="Shape 18"/>
          <p:cNvSpPr/>
          <p:nvPr/>
        </p:nvSpPr>
        <p:spPr>
          <a:xfrm>
            <a:off x="624185" y="3714629"/>
            <a:ext cx="314325" cy="314325"/>
          </a:xfrm>
          <a:prstGeom prst="ellipse">
            <a:avLst/>
          </a:prstGeom>
          <a:solidFill>
            <a:srgbClr val="E53E3E">
              <a:alpha val="10000"/>
            </a:srgbClr>
          </a:solidFill>
          <a:ln/>
        </p:spPr>
      </p:sp>
      <p:sp>
        <p:nvSpPr>
          <p:cNvPr id="23" name="Text 19"/>
          <p:cNvSpPr/>
          <p:nvPr/>
        </p:nvSpPr>
        <p:spPr>
          <a:xfrm>
            <a:off x="624185" y="3792618"/>
            <a:ext cx="314325" cy="1736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b="1" dirty="0">
                <a:solidFill>
                  <a:schemeClr val="accent3">
                    <a:lumMod val="50000"/>
                  </a:schemeClr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4</a:t>
            </a:r>
            <a:endParaRPr lang="en-US" sz="11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4" name="Text 20"/>
          <p:cNvSpPr/>
          <p:nvPr/>
        </p:nvSpPr>
        <p:spPr>
          <a:xfrm>
            <a:off x="1013719" y="3773291"/>
            <a:ext cx="1582164" cy="1447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100" b="1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Testing &amp; Deployment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992981" y="3984643"/>
            <a:ext cx="2741991" cy="284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Quality assurance, Docker containerization, cloud deployment, and documentation</a:t>
            </a:r>
            <a:endParaRPr lang="en-US" sz="1100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7383" y="762906"/>
            <a:ext cx="171450" cy="17145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5036134" y="776424"/>
            <a:ext cx="1381789" cy="1736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Architecture Layers</a:t>
            </a:r>
            <a:endParaRPr lang="en-US" sz="110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4888" y="1166217"/>
            <a:ext cx="160734" cy="142875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069465" y="1192650"/>
            <a:ext cx="1338508" cy="1351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100" b="1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Presentation Layer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5064988" y="1410431"/>
            <a:ext cx="926344" cy="143309"/>
          </a:xfrm>
          <a:prstGeom prst="rect">
            <a:avLst/>
          </a:prstGeom>
          <a:noFill/>
          <a:ln/>
        </p:spPr>
        <p:txBody>
          <a:bodyPr wrap="none" lIns="68072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Dashboard UI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5042987" y="1601985"/>
            <a:ext cx="1219693" cy="143309"/>
          </a:xfrm>
          <a:prstGeom prst="rect">
            <a:avLst/>
          </a:prstGeom>
          <a:noFill/>
          <a:ln/>
        </p:spPr>
        <p:txBody>
          <a:bodyPr wrap="none" lIns="68072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Transaction Forms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5078614" y="1773050"/>
            <a:ext cx="847796" cy="143309"/>
          </a:xfrm>
          <a:prstGeom prst="rect">
            <a:avLst/>
          </a:prstGeom>
          <a:noFill/>
          <a:ln/>
        </p:spPr>
        <p:txBody>
          <a:bodyPr wrap="none" lIns="68072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Inventory UI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5057775" y="1940559"/>
            <a:ext cx="1009700" cy="143309"/>
          </a:xfrm>
          <a:prstGeom prst="rect">
            <a:avLst/>
          </a:prstGeom>
          <a:noFill/>
          <a:ln/>
        </p:spPr>
        <p:txBody>
          <a:bodyPr wrap="none" lIns="68072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Admin Console</a:t>
            </a:r>
            <a:endParaRPr lang="en-US" sz="1100" dirty="0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3170" y="2190874"/>
            <a:ext cx="178594" cy="142875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5089642" y="2234490"/>
            <a:ext cx="1248740" cy="1351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100" b="1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Application Layer</a:t>
            </a:r>
            <a:endParaRPr lang="en-US" sz="1100" dirty="0"/>
          </a:p>
        </p:txBody>
      </p:sp>
      <p:sp>
        <p:nvSpPr>
          <p:cNvPr id="36" name="Text 29"/>
          <p:cNvSpPr/>
          <p:nvPr/>
        </p:nvSpPr>
        <p:spPr>
          <a:xfrm>
            <a:off x="4999830" y="2439350"/>
            <a:ext cx="1477777" cy="143309"/>
          </a:xfrm>
          <a:prstGeom prst="rect">
            <a:avLst/>
          </a:prstGeom>
          <a:noFill/>
          <a:ln/>
        </p:spPr>
        <p:txBody>
          <a:bodyPr wrap="none" lIns="68072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Authentication Service</a:t>
            </a:r>
            <a:endParaRPr lang="en-US" sz="1100" dirty="0"/>
          </a:p>
        </p:txBody>
      </p:sp>
      <p:sp>
        <p:nvSpPr>
          <p:cNvPr id="37" name="Text 30"/>
          <p:cNvSpPr/>
          <p:nvPr/>
        </p:nvSpPr>
        <p:spPr>
          <a:xfrm>
            <a:off x="5036134" y="2621314"/>
            <a:ext cx="1280607" cy="143309"/>
          </a:xfrm>
          <a:prstGeom prst="rect">
            <a:avLst/>
          </a:prstGeom>
          <a:noFill/>
          <a:ln/>
        </p:spPr>
        <p:txBody>
          <a:bodyPr wrap="none" lIns="68072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Transaction Service</a:t>
            </a:r>
            <a:endParaRPr lang="en-US" sz="1100" dirty="0"/>
          </a:p>
        </p:txBody>
      </p:sp>
      <p:sp>
        <p:nvSpPr>
          <p:cNvPr id="38" name="Text 31"/>
          <p:cNvSpPr/>
          <p:nvPr/>
        </p:nvSpPr>
        <p:spPr>
          <a:xfrm>
            <a:off x="5057775" y="2825346"/>
            <a:ext cx="1089850" cy="143309"/>
          </a:xfrm>
          <a:prstGeom prst="rect">
            <a:avLst/>
          </a:prstGeom>
          <a:noFill/>
          <a:ln/>
        </p:spPr>
        <p:txBody>
          <a:bodyPr wrap="none" lIns="68072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Analytics Engine</a:t>
            </a:r>
            <a:endParaRPr lang="en-US" sz="1100" dirty="0"/>
          </a:p>
        </p:txBody>
      </p:sp>
      <p:sp>
        <p:nvSpPr>
          <p:cNvPr id="39" name="Text 32"/>
          <p:cNvSpPr/>
          <p:nvPr/>
        </p:nvSpPr>
        <p:spPr>
          <a:xfrm>
            <a:off x="5036134" y="3072578"/>
            <a:ext cx="1161985" cy="143309"/>
          </a:xfrm>
          <a:prstGeom prst="rect">
            <a:avLst/>
          </a:prstGeom>
          <a:noFill/>
          <a:ln/>
        </p:spPr>
        <p:txBody>
          <a:bodyPr wrap="none" lIns="68072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Report Generator</a:t>
            </a:r>
            <a:endParaRPr lang="en-US" sz="1100" dirty="0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04030" y="3335823"/>
            <a:ext cx="125016" cy="142875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5126607" y="3349132"/>
            <a:ext cx="751809" cy="1351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100" b="1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Data Layer</a:t>
            </a:r>
            <a:endParaRPr lang="en-US" sz="1100" dirty="0"/>
          </a:p>
        </p:txBody>
      </p:sp>
      <p:sp>
        <p:nvSpPr>
          <p:cNvPr id="42" name="Text 34"/>
          <p:cNvSpPr/>
          <p:nvPr/>
        </p:nvSpPr>
        <p:spPr>
          <a:xfrm>
            <a:off x="5057775" y="3595810"/>
            <a:ext cx="1168397" cy="143309"/>
          </a:xfrm>
          <a:prstGeom prst="rect">
            <a:avLst/>
          </a:prstGeom>
          <a:noFill/>
          <a:ln/>
        </p:spPr>
        <p:txBody>
          <a:bodyPr wrap="none" lIns="68072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Primary Database</a:t>
            </a:r>
            <a:endParaRPr lang="en-US" sz="1100" dirty="0"/>
          </a:p>
        </p:txBody>
      </p:sp>
      <p:sp>
        <p:nvSpPr>
          <p:cNvPr id="43" name="Text 35"/>
          <p:cNvSpPr/>
          <p:nvPr/>
        </p:nvSpPr>
        <p:spPr>
          <a:xfrm>
            <a:off x="5073849" y="3799552"/>
            <a:ext cx="804516" cy="143309"/>
          </a:xfrm>
          <a:prstGeom prst="rect">
            <a:avLst/>
          </a:prstGeom>
          <a:noFill/>
          <a:ln/>
        </p:spPr>
        <p:txBody>
          <a:bodyPr wrap="none" lIns="68072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File Storage</a:t>
            </a:r>
            <a:endParaRPr lang="en-US" sz="1100" dirty="0"/>
          </a:p>
        </p:txBody>
      </p:sp>
      <p:sp>
        <p:nvSpPr>
          <p:cNvPr id="44" name="Text 36"/>
          <p:cNvSpPr/>
          <p:nvPr/>
        </p:nvSpPr>
        <p:spPr>
          <a:xfrm>
            <a:off x="5078614" y="3966255"/>
            <a:ext cx="940770" cy="143309"/>
          </a:xfrm>
          <a:prstGeom prst="rect">
            <a:avLst/>
          </a:prstGeom>
          <a:noFill/>
          <a:ln/>
        </p:spPr>
        <p:txBody>
          <a:bodyPr wrap="none" lIns="68072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Cache System</a:t>
            </a:r>
            <a:endParaRPr lang="en-US" sz="1100" dirty="0"/>
          </a:p>
        </p:txBody>
      </p:sp>
      <p:pic>
        <p:nvPicPr>
          <p:cNvPr id="45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95255" y="4136025"/>
            <a:ext cx="178594" cy="142875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5181757" y="4182180"/>
            <a:ext cx="1218282" cy="1351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100" b="1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External Services</a:t>
            </a:r>
            <a:endParaRPr lang="en-US" sz="1100" dirty="0"/>
          </a:p>
        </p:txBody>
      </p:sp>
      <p:sp>
        <p:nvSpPr>
          <p:cNvPr id="48" name="Text 39"/>
          <p:cNvSpPr/>
          <p:nvPr/>
        </p:nvSpPr>
        <p:spPr>
          <a:xfrm>
            <a:off x="5137924" y="4389961"/>
            <a:ext cx="1777538" cy="143309"/>
          </a:xfrm>
          <a:prstGeom prst="rect">
            <a:avLst/>
          </a:prstGeom>
          <a:noFill/>
          <a:ln/>
        </p:spPr>
        <p:txBody>
          <a:bodyPr wrap="none" lIns="68072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AI/ML Service (AI Forecast)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4188" y="608301"/>
            <a:ext cx="3501600" cy="3749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u="sng" dirty="0">
                <a:solidFill>
                  <a:srgbClr val="2D3748"/>
                </a:solidFill>
                <a:latin typeface="+mj-lt"/>
                <a:ea typeface="Merriweather" pitchFamily="34" charset="-122"/>
                <a:cs typeface="Merriweather" pitchFamily="34" charset="-120"/>
              </a:rPr>
              <a:t>System Workflow Diagram</a:t>
            </a:r>
            <a:endParaRPr lang="en-US" sz="2400" u="sng" dirty="0">
              <a:latin typeface="+mj-lt"/>
            </a:endParaRPr>
          </a:p>
        </p:txBody>
      </p:sp>
      <p:sp>
        <p:nvSpPr>
          <p:cNvPr id="4" name="Text 1"/>
          <p:cNvSpPr/>
          <p:nvPr/>
        </p:nvSpPr>
        <p:spPr>
          <a:xfrm>
            <a:off x="668836" y="1301343"/>
            <a:ext cx="3364704" cy="143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100" dirty="0">
                <a:solidFill>
                  <a:schemeClr val="accent3">
                    <a:lumMod val="50000"/>
                  </a:scheme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Six-step process from data entry to actionable insights</a:t>
            </a:r>
            <a:endParaRPr lang="en-US" sz="11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5" name="Shape 2"/>
          <p:cNvSpPr/>
          <p:nvPr/>
        </p:nvSpPr>
        <p:spPr>
          <a:xfrm>
            <a:off x="790277" y="1892290"/>
            <a:ext cx="688629" cy="633026"/>
          </a:xfrm>
          <a:prstGeom prst="ellipse">
            <a:avLst/>
          </a:prstGeom>
          <a:solidFill>
            <a:srgbClr val="E53E3E">
              <a:alpha val="10000"/>
            </a:srgbClr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057" y="2062758"/>
            <a:ext cx="225028" cy="2571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2501" y="2624872"/>
            <a:ext cx="1016305" cy="1429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50" b="1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Authentication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805106" y="2843213"/>
            <a:ext cx="541815" cy="1282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JWT Login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650416" y="2993231"/>
            <a:ext cx="851195" cy="1282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Business Profiles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604730" y="3143250"/>
            <a:ext cx="942567" cy="1282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Role-based Access</a:t>
            </a:r>
            <a:endParaRPr lang="en-US" sz="9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9938" y="2461968"/>
            <a:ext cx="249853" cy="285546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2188666" y="1953816"/>
            <a:ext cx="571500" cy="571500"/>
          </a:xfrm>
          <a:prstGeom prst="ellipse">
            <a:avLst/>
          </a:prstGeom>
          <a:solidFill>
            <a:srgbClr val="E53E3E">
              <a:alpha val="10000"/>
            </a:srgbClr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29755" y="2099370"/>
            <a:ext cx="289322" cy="25717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2115344" y="2632472"/>
            <a:ext cx="718146" cy="1429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50" b="1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Data Entry</a:t>
            </a:r>
            <a:endParaRPr lang="en-US" sz="1050" dirty="0"/>
          </a:p>
        </p:txBody>
      </p:sp>
      <p:sp>
        <p:nvSpPr>
          <p:cNvPr id="15" name="Text 9"/>
          <p:cNvSpPr/>
          <p:nvPr/>
        </p:nvSpPr>
        <p:spPr>
          <a:xfrm>
            <a:off x="2193890" y="2843213"/>
            <a:ext cx="561052" cy="1282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Sales Entry</a:t>
            </a:r>
            <a:endParaRPr lang="en-US" sz="900" dirty="0"/>
          </a:p>
        </p:txBody>
      </p:sp>
      <p:sp>
        <p:nvSpPr>
          <p:cNvPr id="16" name="Text 10"/>
          <p:cNvSpPr/>
          <p:nvPr/>
        </p:nvSpPr>
        <p:spPr>
          <a:xfrm>
            <a:off x="2237172" y="2993231"/>
            <a:ext cx="474489" cy="1282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Expenses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2229958" y="3143250"/>
            <a:ext cx="488916" cy="1282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Inventory</a:t>
            </a:r>
            <a:endParaRPr lang="en-US" sz="9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86100" y="2513707"/>
            <a:ext cx="175022" cy="200025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3587055" y="1953816"/>
            <a:ext cx="571500" cy="571500"/>
          </a:xfrm>
          <a:prstGeom prst="ellipse">
            <a:avLst/>
          </a:prstGeom>
          <a:solidFill>
            <a:srgbClr val="E53E3E">
              <a:alpha val="10000"/>
            </a:srgbClr>
          </a:solidFill>
          <a:ln/>
        </p:spPr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12071" y="2099370"/>
            <a:ext cx="321469" cy="257175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3500094" y="2632472"/>
            <a:ext cx="745397" cy="1429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50" b="1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Processing</a:t>
            </a:r>
            <a:endParaRPr lang="en-US" sz="1050" dirty="0"/>
          </a:p>
        </p:txBody>
      </p:sp>
      <p:sp>
        <p:nvSpPr>
          <p:cNvPr id="22" name="Text 14"/>
          <p:cNvSpPr/>
          <p:nvPr/>
        </p:nvSpPr>
        <p:spPr>
          <a:xfrm>
            <a:off x="3433582" y="2843213"/>
            <a:ext cx="878446" cy="1282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Profit Calculation</a:t>
            </a:r>
            <a:endParaRPr lang="en-US" sz="900" dirty="0"/>
          </a:p>
        </p:txBody>
      </p:sp>
      <p:sp>
        <p:nvSpPr>
          <p:cNvPr id="23" name="Text 15"/>
          <p:cNvSpPr/>
          <p:nvPr/>
        </p:nvSpPr>
        <p:spPr>
          <a:xfrm>
            <a:off x="3367859" y="2993231"/>
            <a:ext cx="1009893" cy="1282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COGS Computation</a:t>
            </a:r>
            <a:endParaRPr lang="en-US" sz="900" dirty="0"/>
          </a:p>
        </p:txBody>
      </p:sp>
      <p:sp>
        <p:nvSpPr>
          <p:cNvPr id="24" name="Text 16"/>
          <p:cNvSpPr/>
          <p:nvPr/>
        </p:nvSpPr>
        <p:spPr>
          <a:xfrm>
            <a:off x="3491647" y="3143250"/>
            <a:ext cx="76231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Categorization</a:t>
            </a:r>
            <a:endParaRPr lang="en-US" sz="900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84489" y="2513707"/>
            <a:ext cx="175022" cy="200025"/>
          </a:xfrm>
          <a:prstGeom prst="rect">
            <a:avLst/>
          </a:prstGeom>
        </p:spPr>
      </p:pic>
      <p:sp>
        <p:nvSpPr>
          <p:cNvPr id="26" name="Shape 17"/>
          <p:cNvSpPr/>
          <p:nvPr/>
        </p:nvSpPr>
        <p:spPr>
          <a:xfrm>
            <a:off x="4985445" y="1953816"/>
            <a:ext cx="571500" cy="571500"/>
          </a:xfrm>
          <a:prstGeom prst="ellipse">
            <a:avLst/>
          </a:prstGeom>
          <a:solidFill>
            <a:srgbClr val="E53E3E">
              <a:alpha val="10000"/>
            </a:srgbClr>
          </a:solidFill>
          <a:ln/>
        </p:spPr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42607" y="2099370"/>
            <a:ext cx="257175" cy="257175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4957006" y="2632472"/>
            <a:ext cx="628378" cy="1429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50" b="1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Analytics</a:t>
            </a:r>
            <a:endParaRPr lang="en-US" sz="1050" dirty="0"/>
          </a:p>
        </p:txBody>
      </p:sp>
      <p:sp>
        <p:nvSpPr>
          <p:cNvPr id="29" name="Text 19"/>
          <p:cNvSpPr/>
          <p:nvPr/>
        </p:nvSpPr>
        <p:spPr>
          <a:xfrm>
            <a:off x="4926548" y="2843213"/>
            <a:ext cx="689292" cy="1282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AI Algorithms</a:t>
            </a:r>
            <a:endParaRPr lang="en-US" sz="900" dirty="0"/>
          </a:p>
        </p:txBody>
      </p:sp>
      <p:sp>
        <p:nvSpPr>
          <p:cNvPr id="30" name="Text 20"/>
          <p:cNvSpPr/>
          <p:nvPr/>
        </p:nvSpPr>
        <p:spPr>
          <a:xfrm>
            <a:off x="4900099" y="2993231"/>
            <a:ext cx="742191" cy="1282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Trend Analysis</a:t>
            </a:r>
            <a:endParaRPr lang="en-US" sz="900" dirty="0"/>
          </a:p>
        </p:txBody>
      </p:sp>
      <p:sp>
        <p:nvSpPr>
          <p:cNvPr id="31" name="Text 21"/>
          <p:cNvSpPr/>
          <p:nvPr/>
        </p:nvSpPr>
        <p:spPr>
          <a:xfrm>
            <a:off x="4977043" y="3143250"/>
            <a:ext cx="588303" cy="1282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Forecasting</a:t>
            </a:r>
            <a:endParaRPr lang="en-US" sz="900" dirty="0"/>
          </a:p>
        </p:txBody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82878" y="2513707"/>
            <a:ext cx="175022" cy="200025"/>
          </a:xfrm>
          <a:prstGeom prst="rect">
            <a:avLst/>
          </a:prstGeom>
        </p:spPr>
      </p:pic>
      <p:sp>
        <p:nvSpPr>
          <p:cNvPr id="33" name="Shape 22"/>
          <p:cNvSpPr/>
          <p:nvPr/>
        </p:nvSpPr>
        <p:spPr>
          <a:xfrm>
            <a:off x="6383834" y="1953816"/>
            <a:ext cx="571500" cy="571500"/>
          </a:xfrm>
          <a:prstGeom prst="ellipse">
            <a:avLst/>
          </a:prstGeom>
          <a:solidFill>
            <a:srgbClr val="E53E3E">
              <a:alpha val="10000"/>
            </a:srgbClr>
          </a:solidFill>
          <a:ln/>
        </p:spPr>
      </p:sp>
      <p:pic>
        <p:nvPicPr>
          <p:cNvPr id="34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40996" y="2099370"/>
            <a:ext cx="257175" cy="257175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6221531" y="2632472"/>
            <a:ext cx="896079" cy="1429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50" b="1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Visualization</a:t>
            </a:r>
            <a:endParaRPr lang="en-US" sz="1050" dirty="0"/>
          </a:p>
        </p:txBody>
      </p:sp>
      <p:sp>
        <p:nvSpPr>
          <p:cNvPr id="36" name="Text 24"/>
          <p:cNvSpPr/>
          <p:nvPr/>
        </p:nvSpPr>
        <p:spPr>
          <a:xfrm>
            <a:off x="6368205" y="2843213"/>
            <a:ext cx="602729" cy="1282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Dashboards</a:t>
            </a:r>
            <a:endParaRPr lang="en-US" sz="900" dirty="0"/>
          </a:p>
        </p:txBody>
      </p:sp>
      <p:sp>
        <p:nvSpPr>
          <p:cNvPr id="37" name="Text 25"/>
          <p:cNvSpPr/>
          <p:nvPr/>
        </p:nvSpPr>
        <p:spPr>
          <a:xfrm>
            <a:off x="6503658" y="2993231"/>
            <a:ext cx="331822" cy="1282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Charts</a:t>
            </a:r>
            <a:endParaRPr lang="en-US" sz="900" dirty="0"/>
          </a:p>
        </p:txBody>
      </p:sp>
      <p:sp>
        <p:nvSpPr>
          <p:cNvPr id="38" name="Text 26"/>
          <p:cNvSpPr/>
          <p:nvPr/>
        </p:nvSpPr>
        <p:spPr>
          <a:xfrm>
            <a:off x="6478010" y="3143250"/>
            <a:ext cx="383118" cy="1282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Metrics</a:t>
            </a:r>
            <a:endParaRPr lang="en-US" sz="900" dirty="0"/>
          </a:p>
        </p:txBody>
      </p:sp>
      <p:pic>
        <p:nvPicPr>
          <p:cNvPr id="39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1267" y="2513707"/>
            <a:ext cx="175022" cy="200025"/>
          </a:xfrm>
          <a:prstGeom prst="rect">
            <a:avLst/>
          </a:prstGeom>
        </p:spPr>
      </p:pic>
      <p:sp>
        <p:nvSpPr>
          <p:cNvPr id="40" name="Shape 27"/>
          <p:cNvSpPr/>
          <p:nvPr/>
        </p:nvSpPr>
        <p:spPr>
          <a:xfrm>
            <a:off x="7782223" y="1953816"/>
            <a:ext cx="571500" cy="571500"/>
          </a:xfrm>
          <a:prstGeom prst="ellipse">
            <a:avLst/>
          </a:prstGeom>
          <a:solidFill>
            <a:srgbClr val="E53E3E">
              <a:alpha val="10000"/>
            </a:srgbClr>
          </a:solidFill>
          <a:ln/>
        </p:spPr>
      </p:sp>
      <p:pic>
        <p:nvPicPr>
          <p:cNvPr id="41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3312" y="2099370"/>
            <a:ext cx="289322" cy="257175"/>
          </a:xfrm>
          <a:prstGeom prst="rect">
            <a:avLst/>
          </a:prstGeom>
        </p:spPr>
      </p:pic>
      <p:sp>
        <p:nvSpPr>
          <p:cNvPr id="42" name="Text 28"/>
          <p:cNvSpPr/>
          <p:nvPr/>
        </p:nvSpPr>
        <p:spPr>
          <a:xfrm>
            <a:off x="7727321" y="2632472"/>
            <a:ext cx="681277" cy="1429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50" b="1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Reporting</a:t>
            </a:r>
            <a:endParaRPr lang="en-US" sz="1050" dirty="0"/>
          </a:p>
        </p:txBody>
      </p:sp>
      <p:sp>
        <p:nvSpPr>
          <p:cNvPr id="43" name="Text 29"/>
          <p:cNvSpPr/>
          <p:nvPr/>
        </p:nvSpPr>
        <p:spPr>
          <a:xfrm>
            <a:off x="7796264" y="2843213"/>
            <a:ext cx="543418" cy="1282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PDF/Excel</a:t>
            </a:r>
            <a:endParaRPr lang="en-US" sz="900" dirty="0"/>
          </a:p>
        </p:txBody>
      </p:sp>
      <p:sp>
        <p:nvSpPr>
          <p:cNvPr id="44" name="Text 30"/>
          <p:cNvSpPr/>
          <p:nvPr/>
        </p:nvSpPr>
        <p:spPr>
          <a:xfrm>
            <a:off x="7930916" y="2993231"/>
            <a:ext cx="274114" cy="1282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Email</a:t>
            </a:r>
            <a:endParaRPr lang="en-US" sz="900" dirty="0"/>
          </a:p>
        </p:txBody>
      </p:sp>
      <p:sp>
        <p:nvSpPr>
          <p:cNvPr id="45" name="Text 31"/>
          <p:cNvSpPr/>
          <p:nvPr/>
        </p:nvSpPr>
        <p:spPr>
          <a:xfrm>
            <a:off x="7874009" y="3143250"/>
            <a:ext cx="387927" cy="1282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Insights</a:t>
            </a:r>
            <a:endParaRPr lang="en-US" sz="900" dirty="0"/>
          </a:p>
        </p:txBody>
      </p:sp>
      <p:sp>
        <p:nvSpPr>
          <p:cNvPr id="46" name="Text 32"/>
          <p:cNvSpPr/>
          <p:nvPr/>
        </p:nvSpPr>
        <p:spPr>
          <a:xfrm>
            <a:off x="571088" y="3636703"/>
            <a:ext cx="1633460" cy="1447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100" b="1" u="sng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Workflow Components</a:t>
            </a:r>
            <a:endParaRPr lang="en-US" sz="1100" u="sng" dirty="0"/>
          </a:p>
        </p:txBody>
      </p:sp>
      <p:sp>
        <p:nvSpPr>
          <p:cNvPr id="47" name="Text 33"/>
          <p:cNvSpPr/>
          <p:nvPr/>
        </p:nvSpPr>
        <p:spPr>
          <a:xfrm>
            <a:off x="566179" y="3922284"/>
            <a:ext cx="3097002" cy="1240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100" b="1" dirty="0">
                <a:solidFill>
                  <a:schemeClr val="accent3">
                    <a:lumMod val="50000"/>
                  </a:scheme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User Flow:</a:t>
            </a:r>
            <a:r>
              <a:rPr lang="en-US" sz="1100" dirty="0">
                <a:solidFill>
                  <a:schemeClr val="accent3">
                    <a:lumMod val="50000"/>
                  </a:scheme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Direct user interactions and data input</a:t>
            </a:r>
            <a:endParaRPr lang="en-US" sz="11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48" name="Text 34"/>
          <p:cNvSpPr/>
          <p:nvPr/>
        </p:nvSpPr>
        <p:spPr>
          <a:xfrm>
            <a:off x="589285" y="4140333"/>
            <a:ext cx="3052118" cy="1240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100" b="1" dirty="0">
                <a:solidFill>
                  <a:schemeClr val="accent3">
                    <a:lumMod val="50000"/>
                  </a:scheme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System Flow:</a:t>
            </a:r>
            <a:r>
              <a:rPr lang="en-US" sz="1100" dirty="0">
                <a:solidFill>
                  <a:schemeClr val="accent3">
                    <a:lumMod val="50000"/>
                  </a:scheme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Automated processing and analysis</a:t>
            </a:r>
            <a:endParaRPr lang="en-US" sz="11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49" name="Text 35"/>
          <p:cNvSpPr/>
          <p:nvPr/>
        </p:nvSpPr>
        <p:spPr>
          <a:xfrm>
            <a:off x="605178" y="4347483"/>
            <a:ext cx="2789225" cy="1240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100" b="1" dirty="0">
                <a:solidFill>
                  <a:schemeClr val="accent3">
                    <a:lumMod val="50000"/>
                  </a:scheme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Output Flow:</a:t>
            </a:r>
            <a:r>
              <a:rPr lang="en-US" sz="1100" dirty="0">
                <a:solidFill>
                  <a:schemeClr val="accent3">
                    <a:lumMod val="50000"/>
                  </a:scheme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Generated reports and insights</a:t>
            </a:r>
            <a:endParaRPr lang="en-US" sz="1100" dirty="0">
              <a:solidFill>
                <a:schemeClr val="accent3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9144000" cy="552390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47785"/>
            <a:ext cx="6351226" cy="3749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u="sng" dirty="0">
                <a:solidFill>
                  <a:srgbClr val="2D3748"/>
                </a:solidFill>
                <a:latin typeface="+mj-lt"/>
                <a:ea typeface="Merriweather" pitchFamily="34" charset="-122"/>
                <a:cs typeface="Merriweather" pitchFamily="34" charset="-120"/>
              </a:rPr>
              <a:t>Technical &amp; Operational Challenges &amp; Solutions</a:t>
            </a:r>
            <a:endParaRPr lang="en-US" sz="2400" u="sng" dirty="0">
              <a:latin typeface="+mj-lt"/>
            </a:endParaRPr>
          </a:p>
        </p:txBody>
      </p:sp>
      <p:sp>
        <p:nvSpPr>
          <p:cNvPr id="4" name="Text 1"/>
          <p:cNvSpPr/>
          <p:nvPr/>
        </p:nvSpPr>
        <p:spPr>
          <a:xfrm>
            <a:off x="592931" y="874756"/>
            <a:ext cx="65" cy="1454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71500" y="1064419"/>
            <a:ext cx="21431" cy="659011"/>
          </a:xfrm>
          <a:prstGeom prst="rect">
            <a:avLst/>
          </a:prstGeom>
          <a:solidFill>
            <a:schemeClr val="tx1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1200150"/>
            <a:ext cx="171450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85838" y="1178719"/>
            <a:ext cx="1877117" cy="1351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100" b="1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Challenge 1: Data Accuracy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985839" y="1330523"/>
            <a:ext cx="2684186" cy="4254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Ensuring correct profit calculations with multiple expense categories and inventory adjustments.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632722" y="1064419"/>
            <a:ext cx="21431" cy="659011"/>
          </a:xfrm>
          <a:prstGeom prst="rect">
            <a:avLst/>
          </a:prstGeom>
          <a:solidFill>
            <a:srgbClr val="2D3748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7738" y="1200150"/>
            <a:ext cx="171450" cy="1714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057775" y="1178719"/>
            <a:ext cx="602729" cy="1351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100" b="1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Solution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5057775" y="1330523"/>
            <a:ext cx="2777930" cy="284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Implement automated validation rules, audit trails, and reconciliation checks.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71500" y="2016323"/>
            <a:ext cx="21431" cy="519708"/>
          </a:xfrm>
          <a:prstGeom prst="rect">
            <a:avLst/>
          </a:prstGeom>
          <a:solidFill>
            <a:schemeClr val="tx1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2152055"/>
            <a:ext cx="128588" cy="17145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85838" y="2130623"/>
            <a:ext cx="2576026" cy="1351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100" b="1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Challenge 2: Real-time Performance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985839" y="2282428"/>
            <a:ext cx="2533166" cy="284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Handling large datasets with fast query response times for dashboard updates.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4632722" y="2016323"/>
            <a:ext cx="21431" cy="519708"/>
          </a:xfrm>
          <a:prstGeom prst="rect">
            <a:avLst/>
          </a:prstGeom>
          <a:solidFill>
            <a:srgbClr val="2D3748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7738" y="2152055"/>
            <a:ext cx="192881" cy="17145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057775" y="2130623"/>
            <a:ext cx="602729" cy="1351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100" b="1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Solution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5057776" y="2282428"/>
            <a:ext cx="2777930" cy="284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Database indexing, caching strategies, and optimized queries.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571500" y="2828925"/>
            <a:ext cx="21431" cy="659011"/>
          </a:xfrm>
          <a:prstGeom prst="rect">
            <a:avLst/>
          </a:prstGeom>
          <a:solidFill>
            <a:schemeClr val="tx1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2964656"/>
            <a:ext cx="150019" cy="17145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85838" y="2943225"/>
            <a:ext cx="2319546" cy="1351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100" b="1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Challenge 3: User Authentication</a:t>
            </a:r>
            <a:endParaRPr lang="en-US" sz="1100" dirty="0"/>
          </a:p>
        </p:txBody>
      </p:sp>
      <p:sp>
        <p:nvSpPr>
          <p:cNvPr id="29" name="Text 21"/>
          <p:cNvSpPr/>
          <p:nvPr/>
        </p:nvSpPr>
        <p:spPr>
          <a:xfrm>
            <a:off x="985838" y="3095030"/>
            <a:ext cx="2828926" cy="284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Securing user accounts and preventing unauthorized access to business data.</a:t>
            </a:r>
            <a:endParaRPr lang="en-US" sz="1100" dirty="0"/>
          </a:p>
        </p:txBody>
      </p:sp>
      <p:sp>
        <p:nvSpPr>
          <p:cNvPr id="31" name="Shape 23"/>
          <p:cNvSpPr/>
          <p:nvPr/>
        </p:nvSpPr>
        <p:spPr>
          <a:xfrm>
            <a:off x="4632722" y="2828925"/>
            <a:ext cx="21431" cy="659011"/>
          </a:xfrm>
          <a:prstGeom prst="rect">
            <a:avLst/>
          </a:prstGeom>
          <a:solidFill>
            <a:srgbClr val="2D3748"/>
          </a:solidFill>
          <a:ln/>
        </p:spPr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57738" y="2964656"/>
            <a:ext cx="171450" cy="17145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5057775" y="2943225"/>
            <a:ext cx="602729" cy="1351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100" b="1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Solution</a:t>
            </a:r>
            <a:endParaRPr lang="en-US" sz="1100" dirty="0"/>
          </a:p>
        </p:txBody>
      </p:sp>
      <p:sp>
        <p:nvSpPr>
          <p:cNvPr id="34" name="Text 25"/>
          <p:cNvSpPr/>
          <p:nvPr/>
        </p:nvSpPr>
        <p:spPr>
          <a:xfrm>
            <a:off x="5057776" y="3095030"/>
            <a:ext cx="2735070" cy="4254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JWT tokens, password hashing (bcrypt), role-based access control, session management.</a:t>
            </a:r>
            <a:endParaRPr lang="en-US" sz="1100" dirty="0"/>
          </a:p>
        </p:txBody>
      </p:sp>
      <p:sp>
        <p:nvSpPr>
          <p:cNvPr id="36" name="Shape 27"/>
          <p:cNvSpPr/>
          <p:nvPr/>
        </p:nvSpPr>
        <p:spPr>
          <a:xfrm>
            <a:off x="571500" y="3780830"/>
            <a:ext cx="21431" cy="659011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/>
        </p:spPr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3916561"/>
            <a:ext cx="150019" cy="171450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985838" y="3895130"/>
            <a:ext cx="1649491" cy="1351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100" b="1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Challenge 4: Scalability</a:t>
            </a:r>
            <a:endParaRPr lang="en-US" sz="1100" dirty="0"/>
          </a:p>
        </p:txBody>
      </p:sp>
      <p:sp>
        <p:nvSpPr>
          <p:cNvPr id="39" name="Text 29"/>
          <p:cNvSpPr/>
          <p:nvPr/>
        </p:nvSpPr>
        <p:spPr>
          <a:xfrm>
            <a:off x="985839" y="4046934"/>
            <a:ext cx="2980594" cy="284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Supporting growing number of users and businesses without performance degradation.</a:t>
            </a:r>
            <a:endParaRPr lang="en-US" sz="1100" dirty="0"/>
          </a:p>
        </p:txBody>
      </p:sp>
      <p:sp>
        <p:nvSpPr>
          <p:cNvPr id="41" name="Shape 31"/>
          <p:cNvSpPr/>
          <p:nvPr/>
        </p:nvSpPr>
        <p:spPr>
          <a:xfrm>
            <a:off x="4632722" y="3780830"/>
            <a:ext cx="21431" cy="659011"/>
          </a:xfrm>
          <a:prstGeom prst="rect">
            <a:avLst/>
          </a:prstGeom>
          <a:solidFill>
            <a:srgbClr val="2D3748"/>
          </a:solidFill>
          <a:ln/>
        </p:spPr>
      </p:sp>
      <p:pic>
        <p:nvPicPr>
          <p:cNvPr id="42" name="Image 8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57738" y="3916561"/>
            <a:ext cx="192881" cy="171450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5057775" y="3895130"/>
            <a:ext cx="602729" cy="1351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100" b="1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Solution</a:t>
            </a:r>
            <a:endParaRPr lang="en-US" sz="1100" dirty="0"/>
          </a:p>
        </p:txBody>
      </p:sp>
      <p:sp>
        <p:nvSpPr>
          <p:cNvPr id="44" name="Text 33"/>
          <p:cNvSpPr/>
          <p:nvPr/>
        </p:nvSpPr>
        <p:spPr>
          <a:xfrm>
            <a:off x="5057775" y="4046935"/>
            <a:ext cx="2735071" cy="284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Microservices architecture, load balancing, horizontal scaling with Docker.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4807" y="287536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9673"/>
            <a:ext cx="5748305" cy="3749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u="sng" dirty="0">
                <a:solidFill>
                  <a:srgbClr val="2D3748"/>
                </a:solidFill>
                <a:latin typeface="+mj-lt"/>
                <a:ea typeface="Merriweather" pitchFamily="34" charset="-122"/>
                <a:cs typeface="Merriweather" pitchFamily="34" charset="-120"/>
              </a:rPr>
              <a:t>Future Enhancements &amp; Long-term Impact</a:t>
            </a:r>
            <a:endParaRPr lang="en-US" sz="2400" u="sng" dirty="0">
              <a:latin typeface="+mj-lt"/>
            </a:endParaRPr>
          </a:p>
        </p:txBody>
      </p:sp>
      <p:sp>
        <p:nvSpPr>
          <p:cNvPr id="6" name="Text 2"/>
          <p:cNvSpPr/>
          <p:nvPr/>
        </p:nvSpPr>
        <p:spPr>
          <a:xfrm>
            <a:off x="814388" y="1094780"/>
            <a:ext cx="1559722" cy="1832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Future Enhancements</a:t>
            </a:r>
            <a:endParaRPr lang="en-US" sz="11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934" y="1407278"/>
            <a:ext cx="107156" cy="14287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78681" y="1426964"/>
            <a:ext cx="1348126" cy="1351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100" b="1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Mobile Application</a:t>
            </a:r>
            <a:endParaRPr lang="en-US" sz="1100" dirty="0"/>
          </a:p>
        </p:txBody>
      </p:sp>
      <p:sp>
        <p:nvSpPr>
          <p:cNvPr id="9" name="Text 4"/>
          <p:cNvSpPr/>
          <p:nvPr/>
        </p:nvSpPr>
        <p:spPr>
          <a:xfrm>
            <a:off x="878681" y="1571625"/>
            <a:ext cx="2757761" cy="284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iOS/Android apps for on-the-go transaction entry and real-time notifications</a:t>
            </a:r>
            <a:endParaRPr lang="en-US" sz="11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075" y="1918762"/>
            <a:ext cx="142875" cy="14287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85824" y="1944932"/>
            <a:ext cx="1516441" cy="1351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100" b="1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Advanced AI Features</a:t>
            </a:r>
            <a:endParaRPr lang="en-US" sz="1100" dirty="0"/>
          </a:p>
        </p:txBody>
      </p:sp>
      <p:sp>
        <p:nvSpPr>
          <p:cNvPr id="12" name="Text 6"/>
          <p:cNvSpPr/>
          <p:nvPr/>
        </p:nvSpPr>
        <p:spPr>
          <a:xfrm>
            <a:off x="878682" y="2110464"/>
            <a:ext cx="2871436" cy="284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Anomaly detection and automatic expense categorization using machine learning</a:t>
            </a:r>
            <a:endParaRPr lang="en-US" sz="11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9997" y="2479113"/>
            <a:ext cx="160734" cy="14287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30279" y="2513206"/>
            <a:ext cx="2106346" cy="1351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100" b="1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Payment Gateway Integration</a:t>
            </a:r>
            <a:endParaRPr lang="en-US" sz="1100" dirty="0"/>
          </a:p>
        </p:txBody>
      </p:sp>
      <p:sp>
        <p:nvSpPr>
          <p:cNvPr id="15" name="Text 8"/>
          <p:cNvSpPr/>
          <p:nvPr/>
        </p:nvSpPr>
        <p:spPr>
          <a:xfrm>
            <a:off x="893826" y="2670324"/>
            <a:ext cx="2856291" cy="284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Connect with Stripe, PayPal for automatic transaction import</a:t>
            </a:r>
            <a:endParaRPr lang="en-US" sz="11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7218" y="3068311"/>
            <a:ext cx="142875" cy="142875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912474" y="3071769"/>
            <a:ext cx="1718419" cy="1351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100" b="1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Multi-Currency Support</a:t>
            </a:r>
            <a:endParaRPr lang="en-US" sz="1100" dirty="0"/>
          </a:p>
        </p:txBody>
      </p:sp>
      <p:sp>
        <p:nvSpPr>
          <p:cNvPr id="18" name="Text 10"/>
          <p:cNvSpPr/>
          <p:nvPr/>
        </p:nvSpPr>
        <p:spPr>
          <a:xfrm>
            <a:off x="918225" y="3266888"/>
            <a:ext cx="2596039" cy="289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Enable international businesses to manage finances in multiple currencies</a:t>
            </a:r>
            <a:endParaRPr lang="en-US" sz="110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1067" y="3657509"/>
            <a:ext cx="178594" cy="142875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893826" y="3676031"/>
            <a:ext cx="1585370" cy="1351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100" b="1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Collaborative Features</a:t>
            </a:r>
            <a:endParaRPr lang="en-US" sz="1100" dirty="0"/>
          </a:p>
        </p:txBody>
      </p:sp>
      <p:sp>
        <p:nvSpPr>
          <p:cNvPr id="21" name="Text 12"/>
          <p:cNvSpPr/>
          <p:nvPr/>
        </p:nvSpPr>
        <p:spPr>
          <a:xfrm>
            <a:off x="885824" y="3869243"/>
            <a:ext cx="2757761" cy="284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Team access, approval workflows, and comprehensive audit logs</a:t>
            </a:r>
            <a:endParaRPr lang="en-US" sz="110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50594" y="1092994"/>
            <a:ext cx="192881" cy="17145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5014913" y="1094780"/>
            <a:ext cx="1330492" cy="1832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Long-term Impact</a:t>
            </a:r>
            <a:endParaRPr lang="en-US" sz="1100" dirty="0"/>
          </a:p>
        </p:txBody>
      </p:sp>
      <p:sp>
        <p:nvSpPr>
          <p:cNvPr id="25" name="Shape 15"/>
          <p:cNvSpPr/>
          <p:nvPr/>
        </p:nvSpPr>
        <p:spPr>
          <a:xfrm>
            <a:off x="4750594" y="1426964"/>
            <a:ext cx="21431" cy="644723"/>
          </a:xfrm>
          <a:prstGeom prst="rect">
            <a:avLst/>
          </a:prstGeom>
          <a:solidFill>
            <a:schemeClr val="tx1"/>
          </a:solidFill>
          <a:ln/>
        </p:spPr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64894" y="1541264"/>
            <a:ext cx="214313" cy="171450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5193506" y="1534120"/>
            <a:ext cx="1732847" cy="1351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100" b="1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Empower Entrepreneurs</a:t>
            </a:r>
            <a:endParaRPr lang="en-US" sz="1100" dirty="0"/>
          </a:p>
        </p:txBody>
      </p:sp>
      <p:sp>
        <p:nvSpPr>
          <p:cNvPr id="28" name="Text 17"/>
          <p:cNvSpPr/>
          <p:nvPr/>
        </p:nvSpPr>
        <p:spPr>
          <a:xfrm>
            <a:off x="5193506" y="1685925"/>
            <a:ext cx="2564256" cy="4254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Thousands of small business owners gain access to affordable, professional-grade financial management tools</a:t>
            </a:r>
            <a:endParaRPr lang="en-US" sz="1100" dirty="0"/>
          </a:p>
        </p:txBody>
      </p:sp>
      <p:sp>
        <p:nvSpPr>
          <p:cNvPr id="30" name="Shape 19"/>
          <p:cNvSpPr/>
          <p:nvPr/>
        </p:nvSpPr>
        <p:spPr>
          <a:xfrm>
            <a:off x="4750594" y="2214563"/>
            <a:ext cx="21431" cy="644723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/>
        </p:spPr>
      </p:sp>
      <p:pic>
        <p:nvPicPr>
          <p:cNvPr id="3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07756" y="2328863"/>
            <a:ext cx="128588" cy="171450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5193506" y="2321719"/>
            <a:ext cx="1495602" cy="1351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100" b="1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Reduce Manual Work</a:t>
            </a:r>
            <a:endParaRPr lang="en-US" sz="1100" dirty="0"/>
          </a:p>
        </p:txBody>
      </p:sp>
      <p:sp>
        <p:nvSpPr>
          <p:cNvPr id="33" name="Text 21"/>
          <p:cNvSpPr/>
          <p:nvPr/>
        </p:nvSpPr>
        <p:spPr>
          <a:xfrm>
            <a:off x="5193506" y="2473523"/>
            <a:ext cx="2526031" cy="4254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Automate accounting tasks by 80%, freeing entrepreneurs to focus on business growth and strategy</a:t>
            </a:r>
            <a:endParaRPr lang="en-US" sz="1100" dirty="0"/>
          </a:p>
        </p:txBody>
      </p:sp>
      <p:sp>
        <p:nvSpPr>
          <p:cNvPr id="35" name="Shape 23"/>
          <p:cNvSpPr/>
          <p:nvPr/>
        </p:nvSpPr>
        <p:spPr>
          <a:xfrm>
            <a:off x="4750594" y="3002161"/>
            <a:ext cx="21431" cy="644723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/>
        </p:spPr>
      </p:sp>
      <p:pic>
        <p:nvPicPr>
          <p:cNvPr id="36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86325" y="3116461"/>
            <a:ext cx="171450" cy="171450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5193506" y="3109317"/>
            <a:ext cx="1453924" cy="1351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100" b="1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Data-Driven Growth</a:t>
            </a:r>
            <a:endParaRPr lang="en-US" sz="1100" dirty="0"/>
          </a:p>
        </p:txBody>
      </p:sp>
      <p:sp>
        <p:nvSpPr>
          <p:cNvPr id="38" name="Text 25"/>
          <p:cNvSpPr/>
          <p:nvPr/>
        </p:nvSpPr>
        <p:spPr>
          <a:xfrm>
            <a:off x="5193506" y="3261122"/>
            <a:ext cx="2388980" cy="5665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Enable informed decision-making through analytics, leading to improved profitability and sustainable business growth</a:t>
            </a:r>
            <a:endParaRPr lang="en-US" sz="1100" dirty="0"/>
          </a:p>
        </p:txBody>
      </p:sp>
      <p:sp>
        <p:nvSpPr>
          <p:cNvPr id="39" name="Shape 26"/>
          <p:cNvSpPr/>
          <p:nvPr/>
        </p:nvSpPr>
        <p:spPr>
          <a:xfrm>
            <a:off x="571500" y="4549173"/>
            <a:ext cx="8001000" cy="59432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0" name="Shape 27"/>
          <p:cNvSpPr/>
          <p:nvPr/>
        </p:nvSpPr>
        <p:spPr>
          <a:xfrm>
            <a:off x="571500" y="4549173"/>
            <a:ext cx="8001000" cy="14288"/>
          </a:xfrm>
          <a:prstGeom prst="rect">
            <a:avLst/>
          </a:prstGeom>
          <a:solidFill>
            <a:srgbClr val="EAEBED"/>
          </a:solidFill>
          <a:ln/>
        </p:spPr>
      </p:sp>
      <p:sp>
        <p:nvSpPr>
          <p:cNvPr id="41" name="Text 28"/>
          <p:cNvSpPr/>
          <p:nvPr/>
        </p:nvSpPr>
        <p:spPr>
          <a:xfrm>
            <a:off x="571500" y="4706336"/>
            <a:ext cx="8001000" cy="203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700"/>
              </a:lnSpc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D83BB0-BD23-91B8-CC3B-FFB52644F292}"/>
              </a:ext>
            </a:extLst>
          </p:cNvPr>
          <p:cNvSpPr txBox="1"/>
          <p:nvPr/>
        </p:nvSpPr>
        <p:spPr>
          <a:xfrm>
            <a:off x="710419" y="661179"/>
            <a:ext cx="16626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 dirty="0"/>
              <a:t>Conclusion</a:t>
            </a:r>
            <a:endParaRPr lang="en-IN" sz="2400" b="1" u="sn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62598B-1741-99F5-61A5-53352024EE5F}"/>
              </a:ext>
            </a:extLst>
          </p:cNvPr>
          <p:cNvSpPr txBox="1"/>
          <p:nvPr/>
        </p:nvSpPr>
        <p:spPr>
          <a:xfrm>
            <a:off x="766690" y="1122845"/>
            <a:ext cx="758248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b="1" u="sng" dirty="0"/>
          </a:p>
          <a:p>
            <a:r>
              <a:rPr lang="en-US" sz="1400" b="1" u="sng" dirty="0"/>
              <a:t>Impact of Business Analyzer</a:t>
            </a:r>
            <a:r>
              <a:rPr lang="en-US" sz="1400" b="1" dirty="0"/>
              <a:t>    </a:t>
            </a:r>
            <a:r>
              <a:rPr lang="en-US" sz="1400" dirty="0"/>
              <a:t>– Empowers small business owners with affordable, professional-grade financial tools that automate manual accounting tasks, enabling data-driven decision-making and improved profitability.</a:t>
            </a:r>
          </a:p>
          <a:p>
            <a:endParaRPr lang="en-US" sz="1400" dirty="0"/>
          </a:p>
          <a:p>
            <a:r>
              <a:rPr lang="en-US" sz="1400" b="1" u="sng" dirty="0"/>
              <a:t>Future Enhancement</a:t>
            </a:r>
            <a:r>
              <a:rPr lang="en-US" sz="1400" b="1" dirty="0"/>
              <a:t>  </a:t>
            </a:r>
            <a:r>
              <a:rPr lang="en-US" sz="1400" dirty="0"/>
              <a:t>– The modular architecture allows for future enhancements including mobile applications, multi-currency support, payment gateway integration, and advanced AI features like anomaly detection.</a:t>
            </a:r>
          </a:p>
          <a:p>
            <a:endParaRPr lang="en-US" sz="1400" dirty="0"/>
          </a:p>
          <a:p>
            <a:r>
              <a:rPr lang="en-US" sz="1400" b="1" u="sng" dirty="0"/>
              <a:t>Transforming Business Management  </a:t>
            </a:r>
            <a:r>
              <a:rPr lang="en-US" sz="1400" dirty="0"/>
              <a:t>– This project transforms how small businesses manage finances by combining ease-of-use with powerful analytics, helping entrepreneurs focus on growth rather than accounting.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5520307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7D23B-C513-9629-9629-FD102C1EB1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200" dirty="0"/>
              <a:t>THANK YOU FOR YOUR ATTENTION</a:t>
            </a:r>
            <a:endParaRPr lang="en-IN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E66799-991E-7DB9-4920-D883B9868D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70062" y="2729128"/>
            <a:ext cx="2158806" cy="990602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Presentation Feedback</a:t>
            </a:r>
          </a:p>
          <a:p>
            <a:r>
              <a:rPr lang="en-US" sz="1300" dirty="0"/>
              <a:t>I hope you found this presentation informative and engaging </a:t>
            </a:r>
            <a:endParaRPr lang="en-IN" sz="13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0DDE24-9D79-F987-7C1A-3613A78665B9}"/>
              </a:ext>
            </a:extLst>
          </p:cNvPr>
          <p:cNvSpPr txBox="1"/>
          <p:nvPr/>
        </p:nvSpPr>
        <p:spPr>
          <a:xfrm>
            <a:off x="4205241" y="2693956"/>
            <a:ext cx="143661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80" b="1" dirty="0"/>
              <a:t>Mentor</a:t>
            </a:r>
            <a:r>
              <a:rPr lang="en-US" b="1" dirty="0"/>
              <a:t> </a:t>
            </a:r>
          </a:p>
          <a:p>
            <a:r>
              <a:rPr lang="en-US" sz="1200" dirty="0"/>
              <a:t>MR. ANIL KUMAR</a:t>
            </a:r>
            <a:endParaRPr lang="en-IN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7ABD11-190B-38C6-85A6-9D26273368D9}"/>
              </a:ext>
            </a:extLst>
          </p:cNvPr>
          <p:cNvSpPr txBox="1"/>
          <p:nvPr/>
        </p:nvSpPr>
        <p:spPr>
          <a:xfrm>
            <a:off x="5718226" y="2686261"/>
            <a:ext cx="1485343" cy="5693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Presented By</a:t>
            </a:r>
          </a:p>
          <a:p>
            <a:r>
              <a:rPr lang="en-US" sz="1300" dirty="0"/>
              <a:t>Moupriyo Jana</a:t>
            </a:r>
            <a:endParaRPr lang="en-IN" sz="1300" dirty="0"/>
          </a:p>
        </p:txBody>
      </p:sp>
    </p:spTree>
    <p:extLst>
      <p:ext uri="{BB962C8B-B14F-4D97-AF65-F5344CB8AC3E}">
        <p14:creationId xmlns:p14="http://schemas.microsoft.com/office/powerpoint/2010/main" val="183725361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1459</TotalTime>
  <Words>1485</Words>
  <Application>Microsoft Office PowerPoint</Application>
  <PresentationFormat>On-screen Show (16:9)</PresentationFormat>
  <Paragraphs>291</Paragraphs>
  <Slides>20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Garamond</vt:lpstr>
      <vt:lpstr>Lato</vt:lpstr>
      <vt:lpstr>Merriweather</vt:lpstr>
      <vt:lpstr>Organic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FOR YOUR ATTENTION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Moupriyo Jana</cp:lastModifiedBy>
  <cp:revision>4</cp:revision>
  <dcterms:created xsi:type="dcterms:W3CDTF">2026-03-14T20:06:43Z</dcterms:created>
  <dcterms:modified xsi:type="dcterms:W3CDTF">2026-03-17T16:36:31Z</dcterms:modified>
</cp:coreProperties>
</file>